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7" r:id="rId4"/>
    <p:sldId id="263" r:id="rId5"/>
    <p:sldId id="269" r:id="rId6"/>
    <p:sldId id="262" r:id="rId7"/>
    <p:sldId id="265" r:id="rId8"/>
    <p:sldId id="261" r:id="rId9"/>
    <p:sldId id="259" r:id="rId10"/>
    <p:sldId id="260" r:id="rId11"/>
    <p:sldId id="264" r:id="rId12"/>
    <p:sldId id="266" r:id="rId13"/>
    <p:sldId id="272" r:id="rId14"/>
  </p:sldIdLst>
  <p:sldSz cx="18288000" cy="10287000"/>
  <p:notesSz cx="6858000" cy="9144000"/>
  <p:embeddedFontLst>
    <p:embeddedFont>
      <p:font typeface="Arial Black" panose="020B0A04020102020204" pitchFamily="34" charset="0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anose="020B0604020202020204" charset="-52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ack" initials="T" lastIdx="1" clrIdx="0">
    <p:extLst>
      <p:ext uri="{19B8F6BF-5375-455C-9EA6-DF929625EA0E}">
        <p15:presenceInfo xmlns:p15="http://schemas.microsoft.com/office/powerpoint/2012/main" userId="5b5773137e1d83e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C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96" y="1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jpg"/><Relationship Id="rId3" Type="http://schemas.openxmlformats.org/officeDocument/2006/relationships/image" Target="../media/image5.gif"/><Relationship Id="rId7" Type="http://schemas.openxmlformats.org/officeDocument/2006/relationships/image" Target="../media/image9.svg"/><Relationship Id="rId12" Type="http://schemas.openxmlformats.org/officeDocument/2006/relationships/image" Target="../media/image13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2.jpeg"/><Relationship Id="rId5" Type="http://schemas.openxmlformats.org/officeDocument/2006/relationships/image" Target="../media/image7.svg"/><Relationship Id="rId10" Type="http://schemas.openxmlformats.org/officeDocument/2006/relationships/image" Target="../media/image2.gif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3.gif"/><Relationship Id="rId5" Type="http://schemas.openxmlformats.org/officeDocument/2006/relationships/image" Target="../media/image9.svg"/><Relationship Id="rId10" Type="http://schemas.openxmlformats.org/officeDocument/2006/relationships/image" Target="../media/image17.gif"/><Relationship Id="rId4" Type="http://schemas.openxmlformats.org/officeDocument/2006/relationships/image" Target="../media/image8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10" Type="http://schemas.openxmlformats.org/officeDocument/2006/relationships/image" Target="../media/image42.gif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image" Target="../media/image4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jpe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3" Type="http://schemas.openxmlformats.org/officeDocument/2006/relationships/image" Target="../media/image50.gif"/><Relationship Id="rId7" Type="http://schemas.openxmlformats.org/officeDocument/2006/relationships/image" Target="../media/image54.jpeg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Relationship Id="rId9" Type="http://schemas.openxmlformats.org/officeDocument/2006/relationships/image" Target="../media/image56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8.svg"/><Relationship Id="rId7" Type="http://schemas.openxmlformats.org/officeDocument/2006/relationships/image" Target="../media/image23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59.bin"/><Relationship Id="rId10" Type="http://schemas.openxmlformats.org/officeDocument/2006/relationships/image" Target="../media/image60.jpg"/><Relationship Id="rId4" Type="http://schemas.openxmlformats.org/officeDocument/2006/relationships/image" Target="../media/image50.gif"/><Relationship Id="rId9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jpg"/><Relationship Id="rId5" Type="http://schemas.openxmlformats.org/officeDocument/2006/relationships/image" Target="../media/image44.gif"/><Relationship Id="rId4" Type="http://schemas.openxmlformats.org/officeDocument/2006/relationships/image" Target="../media/image3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3000871" y="4283533"/>
            <a:ext cx="12286259" cy="2219996"/>
            <a:chOff x="0" y="666750"/>
            <a:chExt cx="16381678" cy="2959995"/>
          </a:xfrm>
        </p:grpSpPr>
        <p:sp>
          <p:nvSpPr>
            <p:cNvPr id="4" name="TextBox 4"/>
            <p:cNvSpPr txBox="1"/>
            <p:nvPr/>
          </p:nvSpPr>
          <p:spPr>
            <a:xfrm>
              <a:off x="0" y="666750"/>
              <a:ext cx="16381678" cy="1259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50"/>
                </a:lnSpc>
              </a:pPr>
              <a:r>
                <a:rPr lang="ru-RU" sz="6500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Математика в природе</a:t>
              </a:r>
              <a:endParaRPr lang="en-US" sz="6500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960154"/>
              <a:ext cx="16381678" cy="66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6"/>
                </a:lnSpc>
                <a:spcBef>
                  <a:spcPct val="0"/>
                </a:spcBef>
              </a:pPr>
              <a:r>
                <a:rPr lang="ru-RU" sz="3004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Красота, скрытая в закономерностях</a:t>
              </a:r>
              <a:endParaRPr lang="en-US" sz="3004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6D0E1329-3CB4-409F-8742-4C45A69FC64D}"/>
              </a:ext>
            </a:extLst>
          </p:cNvPr>
          <p:cNvSpPr txBox="1"/>
          <p:nvPr/>
        </p:nvSpPr>
        <p:spPr>
          <a:xfrm>
            <a:off x="33528" y="7633388"/>
            <a:ext cx="3700272" cy="2653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6"/>
              </a:lnSpc>
              <a:spcBef>
                <a:spcPct val="0"/>
              </a:spcBef>
            </a:pPr>
            <a:r>
              <a:rPr lang="ru-RU" sz="3004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Подготовили студенты группы </a:t>
            </a:r>
            <a:r>
              <a:rPr lang="ru-RU" sz="3004" u="sng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ИС-15</a:t>
            </a:r>
          </a:p>
          <a:p>
            <a:pPr>
              <a:lnSpc>
                <a:spcPts val="4206"/>
              </a:lnSpc>
              <a:spcBef>
                <a:spcPct val="0"/>
              </a:spcBef>
            </a:pPr>
            <a:r>
              <a:rPr lang="ru-RU" sz="3004" b="1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Касторский Д. Миргородский И.</a:t>
            </a:r>
            <a:endParaRPr lang="en-US" sz="3004" b="1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06E9E226-69DC-4D74-84A5-4D4B95F1453D}"/>
              </a:ext>
            </a:extLst>
          </p:cNvPr>
          <p:cNvSpPr txBox="1"/>
          <p:nvPr/>
        </p:nvSpPr>
        <p:spPr>
          <a:xfrm>
            <a:off x="14554200" y="9164451"/>
            <a:ext cx="3700272" cy="1037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206"/>
              </a:lnSpc>
              <a:spcBef>
                <a:spcPct val="0"/>
              </a:spcBef>
            </a:pPr>
            <a:r>
              <a:rPr lang="ru-RU" sz="3004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Преподаватель</a:t>
            </a:r>
            <a:br>
              <a:rPr lang="ru-RU" sz="3004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4" u="sng" dirty="0" err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Болховитина</a:t>
            </a:r>
            <a:r>
              <a:rPr lang="ru-RU" sz="3004" u="sng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 О.И.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5400000">
            <a:off x="5859579" y="1650391"/>
            <a:ext cx="1924536" cy="4160442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660360" y="1028700"/>
            <a:ext cx="7908099" cy="4541678"/>
            <a:chOff x="386346" y="30575"/>
            <a:chExt cx="10544131" cy="6055571"/>
          </a:xfrm>
        </p:grpSpPr>
        <p:sp>
          <p:nvSpPr>
            <p:cNvPr id="6" name="TextBox 6"/>
            <p:cNvSpPr txBox="1"/>
            <p:nvPr/>
          </p:nvSpPr>
          <p:spPr>
            <a:xfrm>
              <a:off x="386346" y="30575"/>
              <a:ext cx="10544131" cy="42454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  <a:spcBef>
                  <a:spcPct val="0"/>
                </a:spcBef>
              </a:pPr>
              <a:r>
                <a:rPr lang="ru-RU" sz="6999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Почему математика в природе важна?</a:t>
              </a:r>
              <a:endParaRPr lang="en-US" sz="6999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3991" y="5516975"/>
              <a:ext cx="10306486" cy="569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ru-RU" sz="26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Природные формы не случайны</a:t>
              </a:r>
              <a:endParaRPr lang="en-US" sz="26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" name="Freeform 7">
            <a:extLst>
              <a:ext uri="{FF2B5EF4-FFF2-40B4-BE49-F238E27FC236}">
                <a16:creationId xmlns:a16="http://schemas.microsoft.com/office/drawing/2014/main" id="{76CF4F96-4075-4321-9218-5F78A9C02BEC}"/>
              </a:ext>
            </a:extLst>
          </p:cNvPr>
          <p:cNvSpPr/>
          <p:nvPr/>
        </p:nvSpPr>
        <p:spPr>
          <a:xfrm>
            <a:off x="303576" y="5142272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" r="-83"/>
            </a:stretch>
          </a:blipFill>
        </p:spPr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252583E-BFE3-4BE3-AE29-D3967C757E72}"/>
              </a:ext>
            </a:extLst>
          </p:cNvPr>
          <p:cNvSpPr/>
          <p:nvPr/>
        </p:nvSpPr>
        <p:spPr>
          <a:xfrm>
            <a:off x="303576" y="6285820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r="-83"/>
            </a:stretch>
          </a:blipFill>
        </p:spPr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EA0A80C8-8CDC-405D-9F77-5DEE4036177B}"/>
              </a:ext>
            </a:extLst>
          </p:cNvPr>
          <p:cNvSpPr/>
          <p:nvPr/>
        </p:nvSpPr>
        <p:spPr>
          <a:xfrm>
            <a:off x="303576" y="7429368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" r="-83"/>
            </a:stretch>
          </a:blipFill>
        </p:spPr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8CA378E-6B18-4E47-8815-959005D4BA5C}"/>
              </a:ext>
            </a:extLst>
          </p:cNvPr>
          <p:cNvSpPr txBox="1"/>
          <p:nvPr/>
        </p:nvSpPr>
        <p:spPr>
          <a:xfrm>
            <a:off x="795441" y="6054719"/>
            <a:ext cx="7729865" cy="890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ru-RU" sz="26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Математика помогает понять, почему мир выглядит именно так</a:t>
            </a:r>
            <a:endParaRPr lang="en-US" sz="2600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49F3EC06-C51F-4BC1-A266-66F1F0F2378C}"/>
              </a:ext>
            </a:extLst>
          </p:cNvPr>
          <p:cNvSpPr txBox="1"/>
          <p:nvPr/>
        </p:nvSpPr>
        <p:spPr>
          <a:xfrm>
            <a:off x="838594" y="7424022"/>
            <a:ext cx="7729865" cy="890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ru-RU" sz="26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Регулярность – результат эффективности, устойчивости и экономии энергии</a:t>
            </a:r>
            <a:endParaRPr lang="en-US" sz="2600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74EDF8A0-9297-445C-BFA9-BC07F8F3CF02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50000"/>
          </a:blip>
          <a:srcRect/>
          <a:stretch>
            <a:fillRect/>
          </a:stretch>
        </p:blipFill>
        <p:spPr>
          <a:xfrm>
            <a:off x="-275643" y="-209557"/>
            <a:ext cx="8904598" cy="1562802"/>
          </a:xfrm>
          <a:prstGeom prst="rect">
            <a:avLst/>
          </a:prstGeom>
        </p:spPr>
      </p:pic>
      <p:pic>
        <p:nvPicPr>
          <p:cNvPr id="20" name="Изображение 10">
            <a:extLst>
              <a:ext uri="{FF2B5EF4-FFF2-40B4-BE49-F238E27FC236}">
                <a16:creationId xmlns:a16="http://schemas.microsoft.com/office/drawing/2014/main" id="{9A51667F-7756-4262-BDA2-B009EF05C0FA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12115800" y="549031"/>
            <a:ext cx="5143997" cy="5021347"/>
          </a:xfrm>
          <a:prstGeom prst="rect">
            <a:avLst/>
          </a:prstGeom>
        </p:spPr>
      </p:pic>
      <p:pic>
        <p:nvPicPr>
          <p:cNvPr id="21" name="Изображение 9">
            <a:extLst>
              <a:ext uri="{FF2B5EF4-FFF2-40B4-BE49-F238E27FC236}">
                <a16:creationId xmlns:a16="http://schemas.microsoft.com/office/drawing/2014/main" id="{5D16CB4B-19EB-4FA7-A3BC-FF5AA9B949E3}"/>
              </a:ext>
            </a:extLst>
          </p:cNvPr>
          <p:cNvPicPr/>
          <p:nvPr/>
        </p:nvPicPr>
        <p:blipFill>
          <a:blip r:embed="rId12"/>
          <a:stretch>
            <a:fillRect/>
          </a:stretch>
        </p:blipFill>
        <p:spPr>
          <a:xfrm>
            <a:off x="12115275" y="6285820"/>
            <a:ext cx="5144522" cy="378499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A0B446D-2A8D-4977-B051-74B3E9E2201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0632" y="8332943"/>
            <a:ext cx="2608767" cy="19540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399999">
            <a:off x="5623226" y="5881824"/>
            <a:ext cx="9501720" cy="0"/>
          </a:xfrm>
          <a:prstGeom prst="line">
            <a:avLst/>
          </a:prstGeom>
          <a:ln w="9525" cap="flat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845129" y="4286250"/>
            <a:ext cx="5956776" cy="170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79"/>
              </a:lnSpc>
              <a:spcBef>
                <a:spcPct val="0"/>
              </a:spcBef>
            </a:pPr>
            <a:r>
              <a:rPr lang="ru-RU" sz="5649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Исторический взгляд</a:t>
            </a:r>
            <a:endParaRPr lang="en-US" sz="5649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1620500" y="1000125"/>
            <a:ext cx="4076092" cy="1550166"/>
            <a:chOff x="0" y="-38100"/>
            <a:chExt cx="5434789" cy="2066888"/>
          </a:xfrm>
        </p:grpSpPr>
        <p:sp>
          <p:nvSpPr>
            <p:cNvPr id="5" name="TextBox 5"/>
            <p:cNvSpPr txBox="1"/>
            <p:nvPr/>
          </p:nvSpPr>
          <p:spPr>
            <a:xfrm>
              <a:off x="0" y="-38100"/>
              <a:ext cx="5434789" cy="506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85"/>
                </a:lnSpc>
                <a:spcBef>
                  <a:spcPct val="0"/>
                </a:spcBef>
              </a:pPr>
              <a:r>
                <a:rPr lang="ru-RU" sz="2275" b="1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Платон:</a:t>
              </a:r>
              <a:endParaRPr lang="en-US" sz="2275" b="1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008252"/>
              <a:ext cx="5434789" cy="1020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080"/>
                </a:lnSpc>
              </a:pPr>
              <a:r>
                <a:rPr lang="ru-RU" sz="22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Идеи «идеальных форм» в основе реального мира</a:t>
              </a:r>
              <a:endParaRPr lang="en-US" sz="22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0111339" y="92167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3" r="-83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620500" y="3240014"/>
            <a:ext cx="4076092" cy="1550166"/>
            <a:chOff x="0" y="-38100"/>
            <a:chExt cx="5434789" cy="2066888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100"/>
              <a:ext cx="5434789" cy="506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85"/>
                </a:lnSpc>
                <a:spcBef>
                  <a:spcPct val="0"/>
                </a:spcBef>
              </a:pPr>
              <a:r>
                <a:rPr lang="ru-RU" sz="2275" b="1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Фибоначчи:</a:t>
              </a:r>
              <a:endParaRPr lang="en-US" sz="2275" b="1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08252"/>
              <a:ext cx="5434789" cy="1020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ru-RU" sz="2200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Последовательность роста в живых системах</a:t>
              </a:r>
              <a:endParaRPr lang="en-US" sz="22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20500" y="5417233"/>
            <a:ext cx="4076092" cy="1550166"/>
            <a:chOff x="0" y="-38100"/>
            <a:chExt cx="5434789" cy="206688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0"/>
              <a:ext cx="5434789" cy="506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185"/>
                </a:lnSpc>
                <a:spcBef>
                  <a:spcPct val="0"/>
                </a:spcBef>
              </a:pPr>
              <a:r>
                <a:rPr lang="ru-RU" sz="2275" b="1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Пифагор:</a:t>
              </a:r>
              <a:endParaRPr lang="en-US" sz="2275" b="1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008252"/>
              <a:ext cx="5434789" cy="1020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ru-RU" sz="22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Гармония природы рождается из чисел</a:t>
              </a:r>
              <a:endParaRPr lang="en-US" sz="22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620500" y="7719792"/>
            <a:ext cx="4229084" cy="1947711"/>
            <a:chOff x="0" y="-38100"/>
            <a:chExt cx="5638778" cy="2596948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0"/>
              <a:ext cx="5434789" cy="506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85"/>
                </a:lnSpc>
                <a:spcBef>
                  <a:spcPct val="0"/>
                </a:spcBef>
              </a:pPr>
              <a:r>
                <a:rPr lang="ru-RU" sz="2275" b="1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Дарси Томпсон:</a:t>
              </a:r>
              <a:endParaRPr lang="en-US" sz="2275" b="1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008252"/>
              <a:ext cx="5638778" cy="1550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ru-RU" sz="2200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Формы организма объясняются математическими законами</a:t>
              </a:r>
              <a:endParaRPr lang="en-US" sz="22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0111339" y="3268589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" r="-83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111339" y="5508478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r="-83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111339" y="7855393"/>
            <a:ext cx="535018" cy="428106"/>
          </a:xfrm>
          <a:custGeom>
            <a:avLst/>
            <a:gdLst/>
            <a:ahLst/>
            <a:cxnLst/>
            <a:rect l="l" t="t" r="r" b="b"/>
            <a:pathLst>
              <a:path w="535018" h="428106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" r="-83"/>
            </a:stretch>
          </a:blipFill>
        </p:spPr>
      </p:sp>
      <p:pic>
        <p:nvPicPr>
          <p:cNvPr id="20" name="Picture 5">
            <a:extLst>
              <a:ext uri="{FF2B5EF4-FFF2-40B4-BE49-F238E27FC236}">
                <a16:creationId xmlns:a16="http://schemas.microsoft.com/office/drawing/2014/main" id="{B7FF39DF-84E0-4079-9DC3-3A07EE424B06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50000"/>
          </a:blip>
          <a:srcRect/>
          <a:stretch>
            <a:fillRect/>
          </a:stretch>
        </p:blipFill>
        <p:spPr>
          <a:xfrm rot="5834991">
            <a:off x="-1743612" y="-4033800"/>
            <a:ext cx="8670039" cy="8654721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77EB39D-8CA5-479F-BDDB-9FBFA3896619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25000"/>
          </a:blip>
          <a:srcRect/>
          <a:stretch>
            <a:fillRect/>
          </a:stretch>
        </p:blipFill>
        <p:spPr>
          <a:xfrm rot="16200000">
            <a:off x="14982754" y="7807839"/>
            <a:ext cx="5430687" cy="552579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280518-1730-464B-A682-FF4531188E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607" y="6564097"/>
            <a:ext cx="3722903" cy="37229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930182" y="7158844"/>
            <a:ext cx="4057650" cy="161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185"/>
              </a:lnSpc>
              <a:spcBef>
                <a:spcPct val="0"/>
              </a:spcBef>
            </a:pPr>
            <a:r>
              <a:rPr lang="ru-RU" sz="2275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Логарифмические спирали встречаются у раковин, подсолнухов, ананасов</a:t>
            </a:r>
            <a:endParaRPr lang="en-US" sz="2275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274444" y="7154888"/>
            <a:ext cx="4057650" cy="2021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185"/>
              </a:lnSpc>
              <a:spcBef>
                <a:spcPct val="0"/>
              </a:spcBef>
            </a:pPr>
            <a:r>
              <a:rPr lang="ru-RU" sz="2275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Природа выбирает спираль из-за эффективности распределения пространства</a:t>
            </a:r>
            <a:endParaRPr lang="en-US" sz="2275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618706" y="7158844"/>
            <a:ext cx="4057650" cy="161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185"/>
              </a:lnSpc>
              <a:spcBef>
                <a:spcPct val="0"/>
              </a:spcBef>
            </a:pPr>
            <a:r>
              <a:rPr lang="ru-RU" sz="2275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Фибоначчи (1, 1, 2, 3, 5, 8…) описывает пропорции роста</a:t>
            </a:r>
            <a:endParaRPr lang="en-US" sz="2275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930182" y="1592721"/>
            <a:ext cx="14427636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09"/>
              </a:lnSpc>
              <a:spcBef>
                <a:spcPct val="0"/>
              </a:spcBef>
            </a:pPr>
            <a:r>
              <a:rPr lang="ru-RU" sz="6924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Спирали Фибоначчи</a:t>
            </a:r>
            <a:endParaRPr lang="en-US" sz="6924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AF2E125-DD73-43C5-98A3-F2DE2B6B4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182" y="3643951"/>
            <a:ext cx="4057650" cy="2820745"/>
          </a:xfrm>
          <a:prstGeom prst="rect">
            <a:avLst/>
          </a:prstGeom>
        </p:spPr>
      </p:pic>
      <p:pic>
        <p:nvPicPr>
          <p:cNvPr id="20" name="Изображение 6">
            <a:extLst>
              <a:ext uri="{FF2B5EF4-FFF2-40B4-BE49-F238E27FC236}">
                <a16:creationId xmlns:a16="http://schemas.microsoft.com/office/drawing/2014/main" id="{8F941E8D-6760-4875-ABEA-F469D4B3093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74444" y="3643951"/>
            <a:ext cx="4057650" cy="2820745"/>
          </a:xfrm>
          <a:prstGeom prst="rect">
            <a:avLst/>
          </a:prstGeom>
        </p:spPr>
      </p:pic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DAE8A5E1-8F71-4D26-B255-54676FC92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0631" y="3643951"/>
            <a:ext cx="3733800" cy="28207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9465034" y="878304"/>
            <a:ext cx="1797669" cy="1851531"/>
          </a:xfrm>
          <a:custGeom>
            <a:avLst/>
            <a:gdLst/>
            <a:ahLst/>
            <a:cxnLst/>
            <a:rect l="l" t="t" r="r" b="b"/>
            <a:pathLst>
              <a:path w="2396892" h="2468709">
                <a:moveTo>
                  <a:pt x="0" y="0"/>
                </a:moveTo>
                <a:lnTo>
                  <a:pt x="2396892" y="0"/>
                </a:lnTo>
                <a:lnTo>
                  <a:pt x="2396892" y="2468709"/>
                </a:lnTo>
                <a:lnTo>
                  <a:pt x="0" y="2468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616962" y="5299097"/>
            <a:ext cx="1924218" cy="1798269"/>
          </a:xfrm>
          <a:custGeom>
            <a:avLst/>
            <a:gdLst/>
            <a:ahLst/>
            <a:cxnLst/>
            <a:rect l="l" t="t" r="r" b="b"/>
            <a:pathLst>
              <a:path w="2565623" h="2397692">
                <a:moveTo>
                  <a:pt x="0" y="0"/>
                </a:moveTo>
                <a:lnTo>
                  <a:pt x="2565623" y="0"/>
                </a:lnTo>
                <a:lnTo>
                  <a:pt x="2565623" y="2397692"/>
                </a:lnTo>
                <a:lnTo>
                  <a:pt x="0" y="23976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36620" y="931567"/>
            <a:ext cx="1924218" cy="1798269"/>
          </a:xfrm>
          <a:custGeom>
            <a:avLst/>
            <a:gdLst/>
            <a:ahLst/>
            <a:cxnLst/>
            <a:rect l="l" t="t" r="r" b="b"/>
            <a:pathLst>
              <a:path w="2565623" h="2397692">
                <a:moveTo>
                  <a:pt x="0" y="0"/>
                </a:moveTo>
                <a:lnTo>
                  <a:pt x="2565623" y="0"/>
                </a:lnTo>
                <a:lnTo>
                  <a:pt x="2565623" y="2397692"/>
                </a:lnTo>
                <a:lnTo>
                  <a:pt x="0" y="2397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97733" y="1124602"/>
            <a:ext cx="5501342" cy="318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ru-RU" sz="6999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Почему возникают спирали?</a:t>
            </a:r>
            <a:endParaRPr lang="en-US" sz="6999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8704599" y="3217722"/>
            <a:ext cx="3318539" cy="1851072"/>
            <a:chOff x="0" y="-38100"/>
            <a:chExt cx="4424719" cy="2468096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38100"/>
              <a:ext cx="4424719" cy="485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55"/>
                </a:lnSpc>
                <a:spcBef>
                  <a:spcPct val="0"/>
                </a:spcBef>
              </a:pPr>
              <a:r>
                <a:rPr lang="ru-RU" sz="3600" b="1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Физика</a:t>
              </a:r>
              <a:endParaRPr lang="en-US" sz="3600" b="1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79400"/>
              <a:ext cx="4424719" cy="155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ru-RU" sz="22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Форма с минимальной энергией</a:t>
              </a:r>
              <a:endParaRPr lang="en-US" sz="22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919801" y="7183575"/>
            <a:ext cx="3318540" cy="2889796"/>
            <a:chOff x="0" y="-38100"/>
            <a:chExt cx="4424720" cy="3853062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38100"/>
              <a:ext cx="4424719" cy="485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55"/>
                </a:lnSpc>
                <a:spcBef>
                  <a:spcPct val="0"/>
                </a:spcBef>
              </a:pPr>
              <a:r>
                <a:rPr lang="ru-RU" sz="3600" b="1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Биология</a:t>
              </a:r>
              <a:endParaRPr lang="en-US" sz="3600" b="1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" y="669399"/>
              <a:ext cx="4424719" cy="31455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ts val="3080"/>
                </a:lnSpc>
              </a:pPr>
              <a:r>
                <a:rPr lang="ru-RU" sz="22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Листья размещаются так, чтобы не затенять друг друга</a:t>
              </a:r>
              <a:r>
                <a:rPr lang="en-US" sz="2000" dirty="0">
                  <a:latin typeface="Arial Black" panose="020B0A04020102020204" pitchFamily="34" charset="0"/>
                  <a:ea typeface="Bitter" pitchFamily="34" charset="-122"/>
                  <a:cs typeface="Bitter" pitchFamily="34" charset="-120"/>
                </a:rPr>
                <a:t> →</a:t>
              </a:r>
              <a:r>
                <a:rPr lang="ru-RU" sz="22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Спираль – оптимальная геометрия роста</a:t>
              </a:r>
              <a:endParaRPr lang="en-US" sz="2200" u="none" dirty="0">
                <a:latin typeface="Arial Black" panose="020B0A04020102020204" pitchFamily="34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339459" y="3217722"/>
            <a:ext cx="3318539" cy="2248617"/>
            <a:chOff x="0" y="-38100"/>
            <a:chExt cx="4424719" cy="2998156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38100"/>
              <a:ext cx="4424719" cy="485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ts val="2555"/>
                </a:lnSpc>
                <a:spcBef>
                  <a:spcPct val="0"/>
                </a:spcBef>
              </a:pPr>
              <a:r>
                <a:rPr lang="ru-RU" sz="3600" b="1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Химия</a:t>
              </a:r>
              <a:endParaRPr lang="en-US" sz="3600" b="1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879400"/>
              <a:ext cx="4424719" cy="2080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ru-RU" sz="22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Реакционно-диффузионные процессы создают узоры</a:t>
              </a:r>
              <a:endParaRPr lang="en-US" sz="22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9C7F845-085E-4167-A67E-F27F1084FD2C}"/>
              </a:ext>
            </a:extLst>
          </p:cNvPr>
          <p:cNvSpPr txBox="1"/>
          <p:nvPr/>
        </p:nvSpPr>
        <p:spPr>
          <a:xfrm>
            <a:off x="10020968" y="1124602"/>
            <a:ext cx="68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438F92-EC7C-4253-9372-87B03F205862}"/>
              </a:ext>
            </a:extLst>
          </p:cNvPr>
          <p:cNvSpPr txBox="1"/>
          <p:nvPr/>
        </p:nvSpPr>
        <p:spPr>
          <a:xfrm>
            <a:off x="14655828" y="1203904"/>
            <a:ext cx="68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F0360E-CC92-4C77-ACCF-94A0847C86F2}"/>
              </a:ext>
            </a:extLst>
          </p:cNvPr>
          <p:cNvSpPr txBox="1"/>
          <p:nvPr/>
        </p:nvSpPr>
        <p:spPr>
          <a:xfrm>
            <a:off x="12270037" y="5528663"/>
            <a:ext cx="68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/>
              <a:t>3</a:t>
            </a:r>
          </a:p>
        </p:txBody>
      </p:sp>
      <p:pic>
        <p:nvPicPr>
          <p:cNvPr id="31" name="Изображение 12">
            <a:extLst>
              <a:ext uri="{FF2B5EF4-FFF2-40B4-BE49-F238E27FC236}">
                <a16:creationId xmlns:a16="http://schemas.microsoft.com/office/drawing/2014/main" id="{E742227F-2BCE-42B8-B973-7B704ABD483E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1179465" y="5428640"/>
            <a:ext cx="5740387" cy="4238148"/>
          </a:xfrm>
          <a:prstGeom prst="rect">
            <a:avLst/>
          </a:prstGeom>
        </p:spPr>
      </p:pic>
      <p:pic>
        <p:nvPicPr>
          <p:cNvPr id="34" name="Picture 10">
            <a:extLst>
              <a:ext uri="{FF2B5EF4-FFF2-40B4-BE49-F238E27FC236}">
                <a16:creationId xmlns:a16="http://schemas.microsoft.com/office/drawing/2014/main" id="{C762FCEB-C440-47DA-BD81-F718AAD6D61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25000"/>
          </a:blip>
          <a:srcRect/>
          <a:stretch>
            <a:fillRect/>
          </a:stretch>
        </p:blipFill>
        <p:spPr>
          <a:xfrm>
            <a:off x="335337" y="582513"/>
            <a:ext cx="7226133" cy="44731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20400" y="876300"/>
            <a:ext cx="6416335" cy="5152350"/>
            <a:chOff x="-262920" y="193675"/>
            <a:chExt cx="8555113" cy="6869799"/>
          </a:xfrm>
        </p:grpSpPr>
        <p:sp>
          <p:nvSpPr>
            <p:cNvPr id="3" name="TextBox 3"/>
            <p:cNvSpPr txBox="1"/>
            <p:nvPr/>
          </p:nvSpPr>
          <p:spPr>
            <a:xfrm>
              <a:off x="-262920" y="2602596"/>
              <a:ext cx="8292193" cy="4460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>
                <a:lnSpc>
                  <a:spcPts val="2600"/>
                </a:lnSpc>
                <a:buSzPct val="100000"/>
                <a:buChar char="•"/>
              </a:pP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Фрактал = структура, где часть напоминает целое</a:t>
              </a:r>
              <a:endParaRPr lang="en-US" sz="2800" dirty="0">
                <a:latin typeface="Montserrat" panose="020B0604020202020204" charset="-52"/>
              </a:endParaRPr>
            </a:p>
            <a:p>
              <a:pPr marL="342900" indent="-342900">
                <a:lnSpc>
                  <a:spcPts val="2600"/>
                </a:lnSpc>
                <a:buSzPct val="100000"/>
                <a:buFontTx/>
                <a:buChar char="•"/>
              </a:pP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Примеры: папоротник, брокколи романеско, кораллы, сосуды и бронхи</a:t>
              </a:r>
              <a:endParaRPr lang="ru-RU" sz="2800" dirty="0">
                <a:latin typeface="Montserrat" panose="020B0604020202020204" charset="-52"/>
                <a:ea typeface="Bitter" pitchFamily="34" charset="-122"/>
                <a:cs typeface="Bitter" pitchFamily="34" charset="-120"/>
              </a:endParaRPr>
            </a:p>
            <a:p>
              <a:pPr marL="342900" indent="-342900">
                <a:lnSpc>
                  <a:spcPts val="2600"/>
                </a:lnSpc>
                <a:buSzPct val="100000"/>
                <a:buFontTx/>
                <a:buChar char="•"/>
              </a:pP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Природа использует фракталы для максимальной эффективности заполнения пространства</a:t>
              </a:r>
              <a:endParaRPr lang="en-US" sz="2800" dirty="0">
                <a:latin typeface="Montserrat" panose="020B0604020202020204" charset="-52"/>
              </a:endParaRPr>
            </a:p>
            <a:p>
              <a:pPr marL="342900" indent="-342900">
                <a:lnSpc>
                  <a:spcPts val="2600"/>
                </a:lnSpc>
                <a:buSzPct val="100000"/>
                <a:buChar char="•"/>
              </a:pPr>
              <a:endParaRPr lang="en-US" sz="280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3675"/>
              <a:ext cx="8292193" cy="1214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39"/>
                </a:lnSpc>
                <a:spcBef>
                  <a:spcPct val="0"/>
                </a:spcBef>
              </a:pPr>
              <a:r>
                <a:rPr lang="ru-RU" sz="5949" b="1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Фракталы</a:t>
              </a:r>
              <a:endParaRPr lang="en-US" sz="5949" b="1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91B60257-E52B-4340-AD9B-793C4F4AF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655081"/>
            <a:ext cx="4138353" cy="4138353"/>
          </a:xfrm>
          <a:prstGeom prst="rect">
            <a:avLst/>
          </a:prstGeom>
        </p:spPr>
      </p:pic>
      <p:pic>
        <p:nvPicPr>
          <p:cNvPr id="9" name="Изображение 7">
            <a:extLst>
              <a:ext uri="{FF2B5EF4-FFF2-40B4-BE49-F238E27FC236}">
                <a16:creationId xmlns:a16="http://schemas.microsoft.com/office/drawing/2014/main" id="{65CECE8C-D2DA-439D-BA51-A95AE1BCC1CA}"/>
              </a:ext>
            </a:extLst>
          </p:cNvPr>
          <p:cNvPicPr/>
          <p:nvPr/>
        </p:nvPicPr>
        <p:blipFill>
          <a:blip r:embed="rId5"/>
          <a:srcRect b="5140"/>
          <a:stretch>
            <a:fillRect/>
          </a:stretch>
        </p:blipFill>
        <p:spPr>
          <a:xfrm>
            <a:off x="4824153" y="876300"/>
            <a:ext cx="4406233" cy="399450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09F2315-028A-4E64-9C95-537357212D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6111" y="6511395"/>
            <a:ext cx="5602101" cy="3282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62842" y="3094248"/>
            <a:ext cx="4393625" cy="1707343"/>
            <a:chOff x="0" y="0"/>
            <a:chExt cx="5858166" cy="2276458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858166" cy="554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95"/>
                </a:lnSpc>
                <a:spcBef>
                  <a:spcPct val="0"/>
                </a:spcBef>
              </a:pPr>
              <a:r>
                <a:rPr lang="ru-RU" sz="28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Экономия ресурсов</a:t>
              </a:r>
              <a:endParaRPr lang="en-US" sz="28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16339"/>
              <a:ext cx="5858166" cy="1060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ru-RU" sz="28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Увеличение площади (например, лёгкие)</a:t>
              </a:r>
              <a:endParaRPr lang="en-US" sz="28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267200"/>
            <a:ext cx="6070147" cy="1754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59"/>
              </a:lnSpc>
              <a:spcBef>
                <a:spcPct val="0"/>
              </a:spcBef>
            </a:pPr>
            <a:r>
              <a:rPr lang="ru-RU" sz="5799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Зачем природе фракталы?</a:t>
            </a:r>
            <a:endParaRPr lang="en-US" sz="5799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262842" y="5481177"/>
            <a:ext cx="4393625" cy="3357074"/>
            <a:chOff x="-1" y="-120660"/>
            <a:chExt cx="5858166" cy="4476099"/>
          </a:xfrm>
        </p:grpSpPr>
        <p:sp>
          <p:nvSpPr>
            <p:cNvPr id="7" name="TextBox 7"/>
            <p:cNvSpPr txBox="1"/>
            <p:nvPr/>
          </p:nvSpPr>
          <p:spPr>
            <a:xfrm>
              <a:off x="-1" y="-120660"/>
              <a:ext cx="5858166" cy="1701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95"/>
                </a:lnSpc>
                <a:spcBef>
                  <a:spcPct val="0"/>
                </a:spcBef>
              </a:pPr>
              <a:r>
                <a:rPr lang="ru-RU" sz="28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Эффективное разветвление(сосуды, деревья)</a:t>
              </a:r>
              <a:endParaRPr lang="en-US" sz="28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1" y="2235200"/>
              <a:ext cx="5858166" cy="2120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ru-RU" sz="2800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Многоуровневые повторения (обеспечивают устойчивость)</a:t>
              </a:r>
              <a:endParaRPr lang="en-US" sz="28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" name="Shape 2">
            <a:extLst>
              <a:ext uri="{FF2B5EF4-FFF2-40B4-BE49-F238E27FC236}">
                <a16:creationId xmlns:a16="http://schemas.microsoft.com/office/drawing/2014/main" id="{515EE233-58C4-4948-9881-BD05315A0CE7}"/>
              </a:ext>
            </a:extLst>
          </p:cNvPr>
          <p:cNvSpPr/>
          <p:nvPr/>
        </p:nvSpPr>
        <p:spPr>
          <a:xfrm>
            <a:off x="10896600" y="2868088"/>
            <a:ext cx="914400" cy="887179"/>
          </a:xfrm>
          <a:prstGeom prst="roundRect">
            <a:avLst>
              <a:gd name="adj" fmla="val 13436980"/>
            </a:avLst>
          </a:prstGeom>
          <a:solidFill>
            <a:srgbClr val="C2C3D2"/>
          </a:solidFill>
        </p:spPr>
        <p:txBody>
          <a:bodyPr/>
          <a:lstStyle/>
          <a:p>
            <a:endParaRPr lang="ru-RU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B3CCCF6A-48E7-4606-B613-689279158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66423" y="3006551"/>
            <a:ext cx="610255" cy="610255"/>
          </a:xfrm>
          <a:prstGeom prst="rect">
            <a:avLst/>
          </a:prstGeom>
        </p:spPr>
      </p:pic>
      <p:sp>
        <p:nvSpPr>
          <p:cNvPr id="15" name="Shape 2">
            <a:extLst>
              <a:ext uri="{FF2B5EF4-FFF2-40B4-BE49-F238E27FC236}">
                <a16:creationId xmlns:a16="http://schemas.microsoft.com/office/drawing/2014/main" id="{A567A5F0-DC29-4FA7-8987-0B882FDFF67D}"/>
              </a:ext>
            </a:extLst>
          </p:cNvPr>
          <p:cNvSpPr/>
          <p:nvPr/>
        </p:nvSpPr>
        <p:spPr>
          <a:xfrm>
            <a:off x="10914349" y="4017553"/>
            <a:ext cx="914400" cy="887179"/>
          </a:xfrm>
          <a:prstGeom prst="roundRect">
            <a:avLst>
              <a:gd name="adj" fmla="val 13436980"/>
            </a:avLst>
          </a:prstGeom>
          <a:solidFill>
            <a:srgbClr val="C2C3D2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840DC7B1-EE85-4A75-BE5E-69CDF01A39DE}"/>
              </a:ext>
            </a:extLst>
          </p:cNvPr>
          <p:cNvSpPr/>
          <p:nvPr/>
        </p:nvSpPr>
        <p:spPr>
          <a:xfrm>
            <a:off x="10896600" y="5231929"/>
            <a:ext cx="914400" cy="887179"/>
          </a:xfrm>
          <a:prstGeom prst="roundRect">
            <a:avLst>
              <a:gd name="adj" fmla="val 13436980"/>
            </a:avLst>
          </a:prstGeom>
          <a:solidFill>
            <a:srgbClr val="C2C3D2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496D9500-F2AF-44DB-9F24-8E782C08272A}"/>
              </a:ext>
            </a:extLst>
          </p:cNvPr>
          <p:cNvSpPr/>
          <p:nvPr/>
        </p:nvSpPr>
        <p:spPr>
          <a:xfrm>
            <a:off x="10896600" y="7155982"/>
            <a:ext cx="914400" cy="887179"/>
          </a:xfrm>
          <a:prstGeom prst="roundRect">
            <a:avLst>
              <a:gd name="adj" fmla="val 13436980"/>
            </a:avLst>
          </a:prstGeom>
          <a:solidFill>
            <a:srgbClr val="C2C3D2"/>
          </a:solidFill>
        </p:spPr>
        <p:txBody>
          <a:bodyPr/>
          <a:lstStyle/>
          <a:p>
            <a:endParaRPr lang="ru-RU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2DE51C84-6568-438D-BFAE-E889C4379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1923" y="4195055"/>
            <a:ext cx="574755" cy="574755"/>
          </a:xfrm>
          <a:prstGeom prst="rect">
            <a:avLst/>
          </a:prstGeom>
        </p:spPr>
      </p:pic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843D4CFD-8FB8-4378-A92B-DAF36963D1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66422" y="5423169"/>
            <a:ext cx="610256" cy="610256"/>
          </a:xfrm>
          <a:prstGeom prst="rect">
            <a:avLst/>
          </a:prstGeom>
        </p:spPr>
      </p:pic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1444AB97-A877-4454-8E2D-AF348E1437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66422" y="7297448"/>
            <a:ext cx="596644" cy="596644"/>
          </a:xfrm>
          <a:prstGeom prst="rect">
            <a:avLst/>
          </a:prstGeom>
        </p:spPr>
      </p:pic>
      <p:pic>
        <p:nvPicPr>
          <p:cNvPr id="21" name="Picture 13">
            <a:extLst>
              <a:ext uri="{FF2B5EF4-FFF2-40B4-BE49-F238E27FC236}">
                <a16:creationId xmlns:a16="http://schemas.microsoft.com/office/drawing/2014/main" id="{37528783-0380-4AB5-97F6-D851150B807E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5000"/>
          </a:blip>
          <a:srcRect/>
          <a:stretch>
            <a:fillRect/>
          </a:stretch>
        </p:blipFill>
        <p:spPr>
          <a:xfrm>
            <a:off x="328326" y="1908507"/>
            <a:ext cx="7029208" cy="5786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048000" y="876300"/>
            <a:ext cx="19770751" cy="18262535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575396" y="2410431"/>
            <a:ext cx="12184569" cy="5601031"/>
            <a:chOff x="0" y="-387773"/>
            <a:chExt cx="16246092" cy="7468039"/>
          </a:xfrm>
        </p:grpSpPr>
        <p:sp>
          <p:nvSpPr>
            <p:cNvPr id="4" name="TextBox 4"/>
            <p:cNvSpPr txBox="1"/>
            <p:nvPr/>
          </p:nvSpPr>
          <p:spPr>
            <a:xfrm>
              <a:off x="1" y="1793864"/>
              <a:ext cx="12801600" cy="52864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ts val="39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Пчелиные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соты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—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идеальная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форма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для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хранения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и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прочности</a:t>
              </a:r>
              <a:endParaRPr lang="ru-RU" sz="2800" dirty="0">
                <a:latin typeface="Montserrat" panose="020B0604020202020204" charset="-52"/>
                <a:ea typeface="Bitter" pitchFamily="34" charset="-122"/>
                <a:cs typeface="Bitter" pitchFamily="34" charset="-120"/>
              </a:endParaRPr>
            </a:p>
            <a:p>
              <a:pPr>
                <a:lnSpc>
                  <a:spcPts val="3920"/>
                </a:lnSpc>
                <a:spcBef>
                  <a:spcPct val="0"/>
                </a:spcBef>
              </a:pPr>
              <a:endParaRPr lang="en-US" sz="2800" dirty="0">
                <a:latin typeface="Montserrat" panose="020B0604020202020204" charset="-52"/>
              </a:endParaRPr>
            </a:p>
            <a:p>
              <a:pPr marL="457200" indent="-457200">
                <a:lnSpc>
                  <a:spcPts val="39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Шестиугольники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заполняют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пространство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без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пустот</a:t>
              </a:r>
              <a:endParaRPr lang="ru-RU" sz="2800" dirty="0">
                <a:latin typeface="Montserrat" panose="020B0604020202020204" charset="-52"/>
                <a:ea typeface="Bitter" pitchFamily="34" charset="-122"/>
                <a:cs typeface="Bitter" pitchFamily="34" charset="-120"/>
              </a:endParaRPr>
            </a:p>
            <a:p>
              <a:pPr>
                <a:lnSpc>
                  <a:spcPts val="3920"/>
                </a:lnSpc>
                <a:spcBef>
                  <a:spcPct val="0"/>
                </a:spcBef>
              </a:pPr>
              <a:endParaRPr lang="en-US" sz="2800" dirty="0">
                <a:latin typeface="Montserrat" panose="020B0604020202020204" charset="-52"/>
              </a:endParaRPr>
            </a:p>
            <a:p>
              <a:pPr marL="457200" indent="-457200">
                <a:lnSpc>
                  <a:spcPts val="39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Минимум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воска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→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максимум</a:t>
              </a:r>
              <a:r>
                <a:rPr lang="en-US" sz="2800" dirty="0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 </a:t>
              </a:r>
              <a:r>
                <a:rPr lang="en-US" sz="2800" dirty="0" err="1">
                  <a:latin typeface="Montserrat" panose="020B0604020202020204" charset="-52"/>
                  <a:ea typeface="Bitter" pitchFamily="34" charset="-122"/>
                  <a:cs typeface="Bitter" pitchFamily="34" charset="-120"/>
                </a:rPr>
                <a:t>устойчивости</a:t>
              </a:r>
              <a:endParaRPr lang="en-US" sz="2800" dirty="0">
                <a:latin typeface="Montserrat" panose="020B0604020202020204" charset="-52"/>
              </a:endParaRP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endParaRPr lang="en-US" sz="28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7773"/>
              <a:ext cx="16246092" cy="1214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49"/>
                </a:lnSpc>
                <a:spcBef>
                  <a:spcPct val="0"/>
                </a:spcBef>
              </a:pPr>
              <a:r>
                <a:rPr lang="ru-RU" sz="7149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Геометрия в природе</a:t>
              </a:r>
              <a:endParaRPr lang="en-US" sz="7149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95F90334-3851-4C6B-BA73-77CFAD4B8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0157" y="567690"/>
            <a:ext cx="4575810" cy="4575810"/>
          </a:xfrm>
          <a:prstGeom prst="rect">
            <a:avLst/>
          </a:prstGeom>
        </p:spPr>
      </p:pic>
      <p:pic>
        <p:nvPicPr>
          <p:cNvPr id="10" name="Изображение 7">
            <a:extLst>
              <a:ext uri="{FF2B5EF4-FFF2-40B4-BE49-F238E27FC236}">
                <a16:creationId xmlns:a16="http://schemas.microsoft.com/office/drawing/2014/main" id="{6FEA1E24-D829-4E85-A79B-4D9EB64FC1E5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11390046" y="5452110"/>
            <a:ext cx="6322558" cy="45758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904" y="266700"/>
            <a:ext cx="18012191" cy="2106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ru-RU" sz="6999" u="none" dirty="0">
                <a:latin typeface="Montserrat"/>
                <a:ea typeface="Montserrat"/>
                <a:cs typeface="Montserrat"/>
                <a:sym typeface="Montserrat"/>
              </a:rPr>
              <a:t>Почему пена образует шестиугольники</a:t>
            </a:r>
            <a:endParaRPr lang="en-US" sz="6999" u="none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504145" y="8429536"/>
            <a:ext cx="46482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800" b="1" dirty="0" err="1">
                <a:latin typeface="Montserrat" panose="020B0604020202020204" charset="-52"/>
                <a:ea typeface="Outfit Bold" pitchFamily="34" charset="-122"/>
                <a:cs typeface="Outfit Bold" pitchFamily="34" charset="-120"/>
              </a:rPr>
              <a:t>Законы</a:t>
            </a:r>
            <a:r>
              <a:rPr lang="en-US" sz="2800" b="1" dirty="0">
                <a:latin typeface="Montserrat" panose="020B0604020202020204" charset="-52"/>
                <a:ea typeface="Outfit Bold" pitchFamily="34" charset="-122"/>
                <a:cs typeface="Outfit Bold" pitchFamily="34" charset="-120"/>
              </a:rPr>
              <a:t> </a:t>
            </a:r>
            <a:r>
              <a:rPr lang="en-US" sz="2800" b="1" dirty="0" err="1">
                <a:latin typeface="Montserrat" panose="020B0604020202020204" charset="-52"/>
                <a:ea typeface="Outfit Bold" pitchFamily="34" charset="-122"/>
                <a:cs typeface="Outfit Bold" pitchFamily="34" charset="-120"/>
              </a:rPr>
              <a:t>Плато</a:t>
            </a:r>
            <a:endParaRPr lang="ru-RU" sz="2800" b="1" dirty="0">
              <a:latin typeface="Montserrat" panose="020B0604020202020204" charset="-52"/>
              <a:ea typeface="Outfit Bold" pitchFamily="34" charset="-122"/>
              <a:cs typeface="Outfit Bold" pitchFamily="34" charset="-120"/>
            </a:endParaRPr>
          </a:p>
          <a:p>
            <a:pPr algn="ctr">
              <a:lnSpc>
                <a:spcPts val="2750"/>
              </a:lnSpc>
            </a:pPr>
            <a:r>
              <a:rPr lang="ru-RU" sz="2200" dirty="0">
                <a:latin typeface="Montserrat" panose="020B0604020202020204" charset="-52"/>
                <a:ea typeface="Outfit Bold" pitchFamily="34" charset="-122"/>
                <a:cs typeface="Outfit Bold" pitchFamily="34" charset="-120"/>
              </a:rPr>
              <a:t>Плёнки </a:t>
            </a:r>
            <a:r>
              <a:rPr lang="ru-RU" sz="2200" dirty="0" err="1">
                <a:latin typeface="Montserrat" panose="020B0604020202020204" charset="-52"/>
                <a:ea typeface="Outfit Bold" pitchFamily="34" charset="-122"/>
                <a:cs typeface="Outfit Bold" pitchFamily="34" charset="-120"/>
              </a:rPr>
              <a:t>втречаются</a:t>
            </a:r>
            <a:r>
              <a:rPr lang="ru-RU" sz="2200" dirty="0">
                <a:latin typeface="Montserrat" panose="020B0604020202020204" charset="-52"/>
                <a:ea typeface="Outfit Bold" pitchFamily="34" charset="-122"/>
                <a:cs typeface="Outfit Bold" pitchFamily="34" charset="-120"/>
              </a:rPr>
              <a:t> под точными углами</a:t>
            </a:r>
            <a:endParaRPr lang="en-US" sz="2200" dirty="0">
              <a:latin typeface="Montserrat" panose="020B0604020202020204" charset="-5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6" y="3009900"/>
            <a:ext cx="9621431" cy="978993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98CCB934-F21E-4862-8EA1-96E1C4980A0D}"/>
              </a:ext>
            </a:extLst>
          </p:cNvPr>
          <p:cNvSpPr txBox="1"/>
          <p:nvPr/>
        </p:nvSpPr>
        <p:spPr>
          <a:xfrm>
            <a:off x="12810199" y="8429536"/>
            <a:ext cx="4280864" cy="156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ru-RU" sz="2800" b="1" dirty="0">
                <a:latin typeface="Montserrat" panose="020B0604020202020204" charset="-52"/>
                <a:ea typeface="Outfit Bold" pitchFamily="34" charset="-122"/>
              </a:rPr>
              <a:t>Эти же принципы</a:t>
            </a:r>
          </a:p>
          <a:p>
            <a:pPr algn="ctr">
              <a:lnSpc>
                <a:spcPts val="3080"/>
              </a:lnSpc>
            </a:pPr>
            <a:r>
              <a:rPr lang="ru-RU" sz="2000" dirty="0">
                <a:latin typeface="Montserrat" panose="020B0604020202020204" charset="-52"/>
                <a:ea typeface="Outfit Bold" pitchFamily="34" charset="-122"/>
              </a:rPr>
              <a:t>Приводят к шестиугольникам узорам пузырей и пен</a:t>
            </a:r>
            <a:endParaRPr lang="en-US" sz="2000" dirty="0">
              <a:latin typeface="Montserrat" panose="020B0604020202020204" charset="-52"/>
            </a:endParaRPr>
          </a:p>
          <a:p>
            <a:pPr marL="0" lvl="0" indent="0" algn="ctr">
              <a:lnSpc>
                <a:spcPts val="3080"/>
              </a:lnSpc>
            </a:pPr>
            <a:endParaRPr lang="en-US" sz="2200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  <a:hlinkClick r:id="rId4" action="ppaction://hlinksldjump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934218DA-C492-4327-B407-59C12E4290E0}"/>
              </a:ext>
            </a:extLst>
          </p:cNvPr>
          <p:cNvSpPr txBox="1"/>
          <p:nvPr/>
        </p:nvSpPr>
        <p:spPr>
          <a:xfrm>
            <a:off x="565427" y="8429536"/>
            <a:ext cx="4280864" cy="195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b="1" dirty="0" err="1">
                <a:latin typeface="Montserrat" panose="020B0604020202020204" charset="-52"/>
                <a:ea typeface="Outfit Bold" pitchFamily="34" charset="-122"/>
                <a:cs typeface="Outfit Bold" pitchFamily="34" charset="-120"/>
              </a:rPr>
              <a:t>Поверхностное</a:t>
            </a:r>
            <a:r>
              <a:rPr lang="en-US" sz="2800" b="1" dirty="0">
                <a:latin typeface="Montserrat" panose="020B0604020202020204" charset="-52"/>
                <a:ea typeface="Outfit Bold" pitchFamily="34" charset="-122"/>
                <a:cs typeface="Outfit Bold" pitchFamily="34" charset="-120"/>
              </a:rPr>
              <a:t> </a:t>
            </a:r>
            <a:r>
              <a:rPr lang="en-US" sz="2800" b="1" dirty="0" err="1">
                <a:latin typeface="Montserrat" panose="020B0604020202020204" charset="-52"/>
                <a:ea typeface="Outfit Bold" pitchFamily="34" charset="-122"/>
                <a:cs typeface="Outfit Bold" pitchFamily="34" charset="-120"/>
              </a:rPr>
              <a:t>натяжение</a:t>
            </a:r>
            <a:endParaRPr lang="ru-RU" sz="2800" b="1" dirty="0">
              <a:latin typeface="Montserrat" panose="020B0604020202020204" charset="-52"/>
              <a:ea typeface="Outfit Bold" pitchFamily="34" charset="-122"/>
              <a:cs typeface="Outfit Bold" pitchFamily="34" charset="-120"/>
            </a:endParaRPr>
          </a:p>
          <a:p>
            <a:pPr algn="ctr">
              <a:lnSpc>
                <a:spcPts val="3080"/>
              </a:lnSpc>
            </a:pPr>
            <a:r>
              <a:rPr lang="ru-RU" sz="2200" dirty="0">
                <a:latin typeface="Montserrat" panose="020B0604020202020204" charset="-52"/>
                <a:ea typeface="Outfit Bold" pitchFamily="34" charset="-122"/>
              </a:rPr>
              <a:t>Стремится уменьшить площадь</a:t>
            </a:r>
            <a:endParaRPr lang="en-US" sz="2200" dirty="0">
              <a:latin typeface="Montserrat" panose="020B0604020202020204" charset="-52"/>
            </a:endParaRPr>
          </a:p>
          <a:p>
            <a:pPr marL="0" lvl="0" indent="0" algn="ctr">
              <a:lnSpc>
                <a:spcPts val="3080"/>
              </a:lnSpc>
            </a:pPr>
            <a:endParaRPr lang="en-US" sz="2200" u="none" dirty="0">
              <a:solidFill>
                <a:srgbClr val="2B2B2B"/>
              </a:solidFill>
              <a:latin typeface="Montserrat"/>
              <a:ea typeface="Montserrat"/>
              <a:cs typeface="Montserrat"/>
              <a:sym typeface="Montserrat"/>
              <a:hlinkClick r:id="rId4" action="ppaction://hlinksldjump"/>
            </a:endParaRPr>
          </a:p>
        </p:txBody>
      </p:sp>
      <p:pic>
        <p:nvPicPr>
          <p:cNvPr id="12" name="Изображение 15">
            <a:extLst>
              <a:ext uri="{FF2B5EF4-FFF2-40B4-BE49-F238E27FC236}">
                <a16:creationId xmlns:a16="http://schemas.microsoft.com/office/drawing/2014/main" id="{6D440CED-426A-4571-9C31-31E0B5D1FDF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62000" y="3215877"/>
            <a:ext cx="6652260" cy="4371340"/>
          </a:xfrm>
          <a:prstGeom prst="rect">
            <a:avLst/>
          </a:prstGeom>
        </p:spPr>
      </p:pic>
      <p:pic>
        <p:nvPicPr>
          <p:cNvPr id="14" name="Изображение 16">
            <a:extLst>
              <a:ext uri="{FF2B5EF4-FFF2-40B4-BE49-F238E27FC236}">
                <a16:creationId xmlns:a16="http://schemas.microsoft.com/office/drawing/2014/main" id="{6C721BD9-37B0-466B-AC7E-06684D5C62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3149600"/>
            <a:ext cx="5267325" cy="44376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9">
            <a:extLst>
              <a:ext uri="{FF2B5EF4-FFF2-40B4-BE49-F238E27FC236}">
                <a16:creationId xmlns:a16="http://schemas.microsoft.com/office/drawing/2014/main" id="{34202DB5-AC4F-4212-A028-A990CC192D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3143155">
            <a:off x="8526571" y="5065172"/>
            <a:ext cx="4265481" cy="4387147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1425796">
            <a:off x="-4700851" y="-3741159"/>
            <a:ext cx="17005599" cy="18983681"/>
          </a:xfrm>
          <a:prstGeom prst="rect">
            <a:avLst/>
          </a:prstGeom>
        </p:spPr>
      </p:pic>
      <p:pic>
        <p:nvPicPr>
          <p:cNvPr id="4" name="Изображение 6">
            <a:extLst>
              <a:ext uri="{FF2B5EF4-FFF2-40B4-BE49-F238E27FC236}">
                <a16:creationId xmlns:a16="http://schemas.microsoft.com/office/drawing/2014/main" id="{D629644F-9184-456D-A15F-0D7F7E39470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94472" y="1714500"/>
            <a:ext cx="7198584" cy="7162800"/>
          </a:xfrm>
          <a:prstGeom prst="rect">
            <a:avLst/>
          </a:prstGeom>
        </p:spPr>
      </p:pic>
      <p:pic>
        <p:nvPicPr>
          <p:cNvPr id="5" name="Изображение 2">
            <a:extLst>
              <a:ext uri="{FF2B5EF4-FFF2-40B4-BE49-F238E27FC236}">
                <a16:creationId xmlns:a16="http://schemas.microsoft.com/office/drawing/2014/main" id="{A1A44B03-9E83-4B6F-9E98-7275732D151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925971" y="1714500"/>
            <a:ext cx="3051175" cy="2580005"/>
          </a:xfrm>
          <a:prstGeom prst="rect">
            <a:avLst/>
          </a:prstGeom>
        </p:spPr>
      </p:pic>
      <p:pic>
        <p:nvPicPr>
          <p:cNvPr id="6" name="Изображение 3">
            <a:extLst>
              <a:ext uri="{FF2B5EF4-FFF2-40B4-BE49-F238E27FC236}">
                <a16:creationId xmlns:a16="http://schemas.microsoft.com/office/drawing/2014/main" id="{7821601D-0FF8-4795-817B-605D41A6F0F3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13870397" y="1714499"/>
            <a:ext cx="3076576" cy="2580005"/>
          </a:xfrm>
          <a:prstGeom prst="rect">
            <a:avLst/>
          </a:prstGeom>
        </p:spPr>
      </p:pic>
      <p:pic>
        <p:nvPicPr>
          <p:cNvPr id="7" name="Изображение 4">
            <a:extLst>
              <a:ext uri="{FF2B5EF4-FFF2-40B4-BE49-F238E27FC236}">
                <a16:creationId xmlns:a16="http://schemas.microsoft.com/office/drawing/2014/main" id="{756C6D26-63AB-400B-8FFB-1F495A6ECD88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8900569" y="6074726"/>
            <a:ext cx="3076577" cy="2580005"/>
          </a:xfrm>
          <a:prstGeom prst="rect">
            <a:avLst/>
          </a:prstGeom>
        </p:spPr>
      </p:pic>
      <p:pic>
        <p:nvPicPr>
          <p:cNvPr id="8" name="Изображение 5">
            <a:extLst>
              <a:ext uri="{FF2B5EF4-FFF2-40B4-BE49-F238E27FC236}">
                <a16:creationId xmlns:a16="http://schemas.microsoft.com/office/drawing/2014/main" id="{A58857BF-D461-4AD5-8C36-5B177A332C17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13870397" y="6074727"/>
            <a:ext cx="3076576" cy="2580005"/>
          </a:xfrm>
          <a:prstGeom prst="rect">
            <a:avLst/>
          </a:prstGeom>
        </p:spPr>
      </p:pic>
      <p:pic>
        <p:nvPicPr>
          <p:cNvPr id="9" name="Picture 15">
            <a:extLst>
              <a:ext uri="{FF2B5EF4-FFF2-40B4-BE49-F238E27FC236}">
                <a16:creationId xmlns:a16="http://schemas.microsoft.com/office/drawing/2014/main" id="{0EB3BAC5-F058-40F3-8654-AEAED96F82B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2713167" y="436809"/>
            <a:ext cx="5120528" cy="48590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991777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2932469">
            <a:off x="-2374778" y="-3273559"/>
            <a:ext cx="14388035" cy="16061643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62000" y="1756084"/>
            <a:ext cx="7413171" cy="3588144"/>
            <a:chOff x="0" y="-227117"/>
            <a:chExt cx="9884229" cy="4784192"/>
          </a:xfrm>
        </p:grpSpPr>
        <p:sp>
          <p:nvSpPr>
            <p:cNvPr id="6" name="TextBox 6"/>
            <p:cNvSpPr txBox="1"/>
            <p:nvPr/>
          </p:nvSpPr>
          <p:spPr>
            <a:xfrm>
              <a:off x="0" y="-227117"/>
              <a:ext cx="9884229" cy="30940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19"/>
                </a:lnSpc>
                <a:spcBef>
                  <a:spcPct val="0"/>
                </a:spcBef>
              </a:pPr>
              <a:r>
                <a:rPr lang="ru-RU" sz="5949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Математика – язык природы</a:t>
              </a:r>
              <a:endParaRPr lang="en-US" sz="5949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378304"/>
              <a:ext cx="9884229" cy="1178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640"/>
                </a:lnSpc>
              </a:pPr>
              <a:r>
                <a:rPr lang="ru-RU" sz="2600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Математика позволяет увидеть скрытые правила, по которым устроен мир.</a:t>
              </a:r>
              <a:endParaRPr lang="en-US" sz="2600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8" name="Изображение 9">
            <a:extLst>
              <a:ext uri="{FF2B5EF4-FFF2-40B4-BE49-F238E27FC236}">
                <a16:creationId xmlns:a16="http://schemas.microsoft.com/office/drawing/2014/main" id="{9D9B7B08-7B3A-4BC1-AC29-0566C546E1A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092039" y="390062"/>
            <a:ext cx="6705600" cy="4367200"/>
          </a:xfrm>
          <a:prstGeom prst="rect">
            <a:avLst/>
          </a:prstGeom>
        </p:spPr>
      </p:pic>
      <p:sp>
        <p:nvSpPr>
          <p:cNvPr id="10" name="Freeform 23">
            <a:extLst>
              <a:ext uri="{FF2B5EF4-FFF2-40B4-BE49-F238E27FC236}">
                <a16:creationId xmlns:a16="http://schemas.microsoft.com/office/drawing/2014/main" id="{941A75C3-745D-4324-A929-555AAF1F9330}"/>
              </a:ext>
            </a:extLst>
          </p:cNvPr>
          <p:cNvSpPr/>
          <p:nvPr/>
        </p:nvSpPr>
        <p:spPr>
          <a:xfrm>
            <a:off x="9352176" y="5991404"/>
            <a:ext cx="843176" cy="868440"/>
          </a:xfrm>
          <a:custGeom>
            <a:avLst/>
            <a:gdLst/>
            <a:ahLst/>
            <a:cxnLst/>
            <a:rect l="l" t="t" r="r" b="b"/>
            <a:pathLst>
              <a:path w="1124235" h="1157920">
                <a:moveTo>
                  <a:pt x="0" y="0"/>
                </a:moveTo>
                <a:lnTo>
                  <a:pt x="1124235" y="0"/>
                </a:lnTo>
                <a:lnTo>
                  <a:pt x="1124235" y="1157920"/>
                </a:lnTo>
                <a:lnTo>
                  <a:pt x="0" y="1157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23">
            <a:extLst>
              <a:ext uri="{FF2B5EF4-FFF2-40B4-BE49-F238E27FC236}">
                <a16:creationId xmlns:a16="http://schemas.microsoft.com/office/drawing/2014/main" id="{095B68AF-72AB-4147-A8A6-1BAA289619B4}"/>
              </a:ext>
            </a:extLst>
          </p:cNvPr>
          <p:cNvSpPr/>
          <p:nvPr/>
        </p:nvSpPr>
        <p:spPr>
          <a:xfrm>
            <a:off x="9352176" y="8633523"/>
            <a:ext cx="843176" cy="868440"/>
          </a:xfrm>
          <a:custGeom>
            <a:avLst/>
            <a:gdLst/>
            <a:ahLst/>
            <a:cxnLst/>
            <a:rect l="l" t="t" r="r" b="b"/>
            <a:pathLst>
              <a:path w="1124235" h="1157920">
                <a:moveTo>
                  <a:pt x="0" y="0"/>
                </a:moveTo>
                <a:lnTo>
                  <a:pt x="1124235" y="0"/>
                </a:lnTo>
                <a:lnTo>
                  <a:pt x="1124235" y="1157920"/>
                </a:lnTo>
                <a:lnTo>
                  <a:pt x="0" y="1157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FC1F22D-7905-4FD2-9C82-D5064F798D8F}"/>
              </a:ext>
            </a:extLst>
          </p:cNvPr>
          <p:cNvSpPr/>
          <p:nvPr/>
        </p:nvSpPr>
        <p:spPr>
          <a:xfrm>
            <a:off x="10092039" y="5037891"/>
            <a:ext cx="54242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Montserrat" panose="020B0604020202020204" charset="-52"/>
              </a:rPr>
              <a:t>Природные формы повторяются, потому что они: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4BF66AC-4F38-4BB1-8B7B-719E02EF6ABE}"/>
              </a:ext>
            </a:extLst>
          </p:cNvPr>
          <p:cNvSpPr/>
          <p:nvPr/>
        </p:nvSpPr>
        <p:spPr>
          <a:xfrm>
            <a:off x="10117867" y="8802050"/>
            <a:ext cx="54242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u="sng" dirty="0">
                <a:latin typeface="Montserrat" panose="020B0604020202020204" charset="-52"/>
              </a:rPr>
              <a:t>Оптимизируют рост и распределение ресурсов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1D27640-B510-4EB1-A9BD-CA4249F89E8A}"/>
              </a:ext>
            </a:extLst>
          </p:cNvPr>
          <p:cNvSpPr/>
          <p:nvPr/>
        </p:nvSpPr>
        <p:spPr>
          <a:xfrm>
            <a:off x="10143696" y="7506175"/>
            <a:ext cx="54242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u="sng" dirty="0">
                <a:latin typeface="Montserrat" panose="020B0604020202020204" charset="-52"/>
              </a:rPr>
              <a:t>Обеспечивают устойчивость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AAA6941-C96C-434D-A422-F099DA989BFD}"/>
              </a:ext>
            </a:extLst>
          </p:cNvPr>
          <p:cNvSpPr/>
          <p:nvPr/>
        </p:nvSpPr>
        <p:spPr>
          <a:xfrm>
            <a:off x="10156942" y="6210300"/>
            <a:ext cx="54242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u="sng" dirty="0">
                <a:latin typeface="Montserrat" panose="020B0604020202020204" charset="-52"/>
              </a:rPr>
              <a:t>Экономят энергию</a:t>
            </a: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2EB7EE37-2CF1-4F58-AFB3-7E83D0CD6BE4}"/>
              </a:ext>
            </a:extLst>
          </p:cNvPr>
          <p:cNvSpPr/>
          <p:nvPr/>
        </p:nvSpPr>
        <p:spPr>
          <a:xfrm>
            <a:off x="9352176" y="7225546"/>
            <a:ext cx="843176" cy="868440"/>
          </a:xfrm>
          <a:custGeom>
            <a:avLst/>
            <a:gdLst/>
            <a:ahLst/>
            <a:cxnLst/>
            <a:rect l="l" t="t" r="r" b="b"/>
            <a:pathLst>
              <a:path w="2565623" h="2397692">
                <a:moveTo>
                  <a:pt x="0" y="0"/>
                </a:moveTo>
                <a:lnTo>
                  <a:pt x="2565623" y="0"/>
                </a:lnTo>
                <a:lnTo>
                  <a:pt x="2565623" y="2397692"/>
                </a:lnTo>
                <a:lnTo>
                  <a:pt x="0" y="23976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42F07A7-89F0-40A7-8498-C09111700C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725" y="7321926"/>
            <a:ext cx="3172610" cy="28967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7772400" y="-382166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pic>
        <p:nvPicPr>
          <p:cNvPr id="10" name="Изображение 1">
            <a:extLst>
              <a:ext uri="{FF2B5EF4-FFF2-40B4-BE49-F238E27FC236}">
                <a16:creationId xmlns:a16="http://schemas.microsoft.com/office/drawing/2014/main" id="{2B7EB686-283E-4232-B4D2-23D8CAEE8AA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62000" y="1333500"/>
            <a:ext cx="6576695" cy="4525010"/>
          </a:xfrm>
          <a:prstGeom prst="rect">
            <a:avLst/>
          </a:prstGeom>
        </p:spPr>
      </p:pic>
      <p:pic>
        <p:nvPicPr>
          <p:cNvPr id="11" name="Изображение 2">
            <a:extLst>
              <a:ext uri="{FF2B5EF4-FFF2-40B4-BE49-F238E27FC236}">
                <a16:creationId xmlns:a16="http://schemas.microsoft.com/office/drawing/2014/main" id="{7E3F9312-6C5F-4D91-82BE-683500E7485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906000" y="2233895"/>
            <a:ext cx="6449060" cy="73996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1643330" y="-6438900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911262" y="5766173"/>
            <a:ext cx="8465475" cy="2722645"/>
            <a:chOff x="0" y="-1226308"/>
            <a:chExt cx="11287299" cy="3630194"/>
          </a:xfrm>
        </p:grpSpPr>
        <p:sp>
          <p:nvSpPr>
            <p:cNvPr id="4" name="TextBox 4"/>
            <p:cNvSpPr txBox="1"/>
            <p:nvPr/>
          </p:nvSpPr>
          <p:spPr>
            <a:xfrm>
              <a:off x="0" y="-1226308"/>
              <a:ext cx="11287299" cy="2809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r>
                <a:rPr lang="ru-RU" sz="6999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Спасибо за внимание</a:t>
              </a:r>
              <a:r>
                <a:rPr lang="en-US" sz="6999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!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76333"/>
              <a:ext cx="11287299" cy="427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95"/>
                </a:lnSpc>
              </a:pPr>
              <a:r>
                <a:rPr lang="ru-RU" sz="1925" u="none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Надеюс</a:t>
              </a:r>
              <a:r>
                <a:rPr lang="ru-RU" sz="1925" dirty="0">
                  <a:solidFill>
                    <a:srgbClr val="2B2B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ь, вам понравилось</a:t>
              </a:r>
              <a:endParaRPr lang="en-US" sz="1925" u="none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9DFF64-A721-465B-8518-28A20BEDB3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724" y="2563639"/>
            <a:ext cx="2114550" cy="21621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300</Words>
  <Application>Microsoft Office PowerPoint</Application>
  <PresentationFormat>Произвольный</PresentationFormat>
  <Paragraphs>62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Montserrat</vt:lpstr>
      <vt:lpstr>Calibri</vt:lpstr>
      <vt:lpstr>Arial Black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Пастельная Пузыри Базовая Простая Презентация</dc:title>
  <cp:lastModifiedBy>Track</cp:lastModifiedBy>
  <cp:revision>2</cp:revision>
  <dcterms:created xsi:type="dcterms:W3CDTF">2006-08-16T00:00:00Z</dcterms:created>
  <dcterms:modified xsi:type="dcterms:W3CDTF">2025-12-09T01:32:37Z</dcterms:modified>
  <dc:identifier>DAG69y4X1Vg</dc:identifier>
</cp:coreProperties>
</file>