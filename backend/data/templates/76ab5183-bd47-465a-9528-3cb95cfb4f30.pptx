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2608" y="1481328"/>
            <a:ext cx="4983480" cy="4828032"/>
          </a:xfrm>
          <a:prstGeom prst="roundRect">
            <a:avLst>
              <a:gd name="adj" fmla="val 3788"/>
            </a:avLst>
          </a:prstGeom>
          <a:solidFill>
            <a:srgbClr val="150727">
              <a:alpha val="98000"/>
            </a:srgbClr>
          </a:solidFill>
          <a:ln w="12700">
            <a:solidFill>
              <a:srgbClr val="8547FF">
                <a:alpha val="65000"/>
              </a:srgbClr>
            </a:solidFill>
            <a:prstDash val="solid"/>
          </a:ln>
          <a:effectLst>
            <a:outerShdw sx="100000" sy="100000" kx="0" ky="0" algn="bl" rotWithShape="0" blurRad="50800" dist="16510" dir="2700000">
              <a:srgbClr val="000000">
                <a:alpha val="3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457200" y="1618488"/>
            <a:ext cx="1289304" cy="1289304"/>
          </a:xfrm>
          <a:prstGeom prst="roundRect">
            <a:avLst>
              <a:gd name="adj" fmla="val 12766"/>
            </a:avLst>
          </a:prstGeom>
          <a:solidFill>
            <a:srgbClr val="1B0A35">
              <a:alpha val="85000"/>
            </a:srgbClr>
          </a:solidFill>
          <a:ln w="15240">
            <a:solidFill>
              <a:srgbClr val="F044F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15240" dir="2700000">
              <a:srgbClr val="C000FF">
                <a:alpha val="35000"/>
              </a:srgbClr>
            </a:outerShdw>
          </a:effectLst>
        </p:spPr>
      </p:sp>
      <p:pic>
        <p:nvPicPr>
          <p:cNvPr id="5" name="Image 1" descr="/mnt/data/afb20341-a334-4d21-a243-17feba91d3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691640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74520" y="1664208"/>
            <a:ext cx="3383280" cy="11430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50800" dir="2700000">
              <a:srgbClr val="9F47FF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Мой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Портфель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1874520" y="2852928"/>
            <a:ext cx="3429000" cy="32004"/>
          </a:xfrm>
          <a:prstGeom prst="rect">
            <a:avLst/>
          </a:prstGeom>
          <a:solidFill>
            <a:srgbClr val="F044FF"/>
          </a:solidFill>
          <a:ln w="12700">
            <a:solidFill>
              <a:srgbClr val="F044FF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74520" y="2999232"/>
            <a:ext cx="3246120" cy="393192"/>
          </a:xfrm>
          <a:prstGeom prst="roundRect">
            <a:avLst/>
          </a:prstGeom>
          <a:solidFill>
            <a:srgbClr val="1F0B36">
              <a:alpha val="95000"/>
            </a:srgbClr>
          </a:solidFill>
          <a:ln w="15240">
            <a:solidFill>
              <a:srgbClr val="5B9C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главном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02920" y="36118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9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Твой </a:t>
            </a:r>
            <a:pPr algn="l" indent="0" marL="0">
              <a:buNone/>
            </a:pPr>
            <a:r>
              <a:rPr lang="en-US" sz="1700" b="1" i="1" dirty="0">
                <a:solidFill>
                  <a:srgbClr val="F04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навигатор</a:t>
            </a:r>
            <a:pPr algn="l" indent="0" marL="0">
              <a:buNone/>
            </a:pPr>
            <a:r>
              <a:rPr lang="en-US" sz="1700" i="1" dirty="0">
                <a:solidFill>
                  <a:srgbClr val="F9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 задачам,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1" dirty="0">
                <a:solidFill>
                  <a:srgbClr val="F9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дедлайнам и школьной жизни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93776" y="4681728"/>
            <a:ext cx="2148840" cy="658368"/>
          </a:xfrm>
          <a:prstGeom prst="roundRect">
            <a:avLst/>
          </a:prstGeom>
          <a:solidFill>
            <a:srgbClr val="24104E">
              <a:alpha val="95000"/>
            </a:srgbClr>
          </a:solidFill>
          <a:ln w="15240">
            <a:solidFill>
              <a:srgbClr val="9F4F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Задания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807208" y="4681728"/>
            <a:ext cx="2148840" cy="658368"/>
          </a:xfrm>
          <a:prstGeom prst="roundRect">
            <a:avLst/>
          </a:prstGeom>
          <a:solidFill>
            <a:srgbClr val="24104E">
              <a:alpha val="95000"/>
            </a:srgbClr>
          </a:solidFill>
          <a:ln w="15240">
            <a:solidFill>
              <a:srgbClr val="EF44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Дедлайны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" y="5504688"/>
            <a:ext cx="2148840" cy="658368"/>
          </a:xfrm>
          <a:prstGeom prst="roundRect">
            <a:avLst/>
          </a:prstGeom>
          <a:solidFill>
            <a:srgbClr val="101A4F">
              <a:alpha val="95000"/>
            </a:srgbClr>
          </a:solidFill>
          <a:ln w="15240">
            <a:solidFill>
              <a:srgbClr val="27D9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807208" y="5504688"/>
            <a:ext cx="2148840" cy="658368"/>
          </a:xfrm>
          <a:prstGeom prst="roundRect">
            <a:avLst/>
          </a:prstGeom>
          <a:solidFill>
            <a:srgbClr val="101A4F">
              <a:alpha val="95000"/>
            </a:srgbClr>
          </a:solidFill>
          <a:ln w="15240">
            <a:solidFill>
              <a:srgbClr val="27D9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2928" y="201168"/>
            <a:ext cx="832104" cy="832104"/>
          </a:xfrm>
          <a:prstGeom prst="roundRect">
            <a:avLst>
              <a:gd name="adj" fmla="val 19780"/>
            </a:avLst>
          </a:prstGeom>
          <a:solidFill>
            <a:srgbClr val="1B0A35">
              <a:alpha val="85000"/>
            </a:srgbClr>
          </a:solidFill>
          <a:ln w="15240">
            <a:solidFill>
              <a:srgbClr val="F044F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15240" dir="2700000">
              <a:srgbClr val="C000FF">
                <a:alpha val="35000"/>
              </a:srgbClr>
            </a:outerShdw>
          </a:effectLst>
        </p:spPr>
      </p:sp>
      <p:pic>
        <p:nvPicPr>
          <p:cNvPr id="4" name="Image 1" descr="/mnt/data/afb20341-a334-4d21-a243-17feba91d3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74320"/>
            <a:ext cx="685800" cy="685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58768" y="438912"/>
            <a:ext cx="1828800" cy="347472"/>
          </a:xfrm>
          <a:prstGeom prst="roundRect">
            <a:avLst/>
          </a:prstGeom>
          <a:solidFill>
            <a:srgbClr val="3D18A8">
              <a:alpha val="95000"/>
            </a:srgbClr>
          </a:solidFill>
          <a:ln w="15240">
            <a:solidFill>
              <a:srgbClr val="F044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Мой Портфель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58952" y="3182112"/>
            <a:ext cx="1005840" cy="1005840"/>
          </a:xfrm>
          <a:prstGeom prst="ellipse">
            <a:avLst/>
          </a:prstGeom>
          <a:solidFill>
            <a:srgbClr val="D43BFF"/>
          </a:solidFill>
          <a:ln w="15240">
            <a:solidFill>
              <a:srgbClr val="FFFFFF">
                <a:alpha val="92000"/>
              </a:srgbClr>
            </a:solidFill>
          </a:ln>
          <a:effectLst>
            <a:outerShdw sx="100000" sy="100000" kx="0" ky="0" algn="bl" rotWithShape="0" blurRad="50800" dist="12700" dir="2700000">
              <a:srgbClr val="A600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502920" y="4315968"/>
            <a:ext cx="1664208" cy="292608"/>
          </a:xfrm>
          <a:prstGeom prst="roundRect">
            <a:avLst/>
          </a:prstGeom>
          <a:solidFill>
            <a:srgbClr val="C22AFF">
              <a:alpha val="95000"/>
            </a:srgbClr>
          </a:solidFill>
          <a:ln w="15240">
            <a:solidFill>
              <a:srgbClr val="FF79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Капитан команды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12064" y="5138928"/>
            <a:ext cx="173736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ФИО капитана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должность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843784" y="3182112"/>
            <a:ext cx="1005840" cy="1005840"/>
          </a:xfrm>
          <a:prstGeom prst="ellipse">
            <a:avLst/>
          </a:prstGeom>
          <a:solidFill>
            <a:srgbClr val="5D2EFF"/>
          </a:solidFill>
          <a:ln w="15240">
            <a:solidFill>
              <a:srgbClr val="FFFFFF">
                <a:alpha val="92000"/>
              </a:srgbClr>
            </a:solidFill>
          </a:ln>
          <a:effectLst>
            <a:outerShdw sx="100000" sy="100000" kx="0" ky="0" algn="bl" rotWithShape="0" blurRad="50800" dist="12700" dir="2700000">
              <a:srgbClr val="A600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2587752" y="4315968"/>
            <a:ext cx="1664208" cy="292608"/>
          </a:xfrm>
          <a:prstGeom prst="roundRect">
            <a:avLst/>
          </a:prstGeom>
          <a:solidFill>
            <a:srgbClr val="2C1471">
              <a:alpha val="95000"/>
            </a:srgbClr>
          </a:solidFill>
          <a:ln w="15240">
            <a:solidFill>
              <a:srgbClr val="8C60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596896" y="5138928"/>
            <a:ext cx="173736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Миргородский Игорь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ИС-25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28616" y="3182112"/>
            <a:ext cx="1005840" cy="1005840"/>
          </a:xfrm>
          <a:prstGeom prst="ellipse">
            <a:avLst/>
          </a:prstGeom>
          <a:solidFill>
            <a:srgbClr val="5D2EFF"/>
          </a:solidFill>
          <a:ln w="15240">
            <a:solidFill>
              <a:srgbClr val="FFFFFF">
                <a:alpha val="92000"/>
              </a:srgbClr>
            </a:solidFill>
          </a:ln>
          <a:effectLst>
            <a:outerShdw sx="100000" sy="100000" kx="0" ky="0" algn="bl" rotWithShape="0" blurRad="50800" dist="12700" dir="2700000">
              <a:srgbClr val="A600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672584" y="4315968"/>
            <a:ext cx="1664208" cy="292608"/>
          </a:xfrm>
          <a:prstGeom prst="roundRect">
            <a:avLst/>
          </a:prstGeom>
          <a:solidFill>
            <a:srgbClr val="2C1471">
              <a:alpha val="95000"/>
            </a:srgbClr>
          </a:solidFill>
          <a:ln w="15240">
            <a:solidFill>
              <a:srgbClr val="8C60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81728" y="5138928"/>
            <a:ext cx="173736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Ватутин Арсений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ИС-25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13448" y="3182112"/>
            <a:ext cx="1005840" cy="1005840"/>
          </a:xfrm>
          <a:prstGeom prst="ellipse">
            <a:avLst/>
          </a:prstGeom>
          <a:solidFill>
            <a:srgbClr val="5D2EFF"/>
          </a:solidFill>
          <a:ln w="15240">
            <a:solidFill>
              <a:srgbClr val="FFFFFF">
                <a:alpha val="92000"/>
              </a:srgbClr>
            </a:solidFill>
          </a:ln>
          <a:effectLst>
            <a:outerShdw sx="100000" sy="100000" kx="0" ky="0" algn="bl" rotWithShape="0" blurRad="50800" dist="12700" dir="2700000">
              <a:srgbClr val="A600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6757416" y="4315968"/>
            <a:ext cx="1664208" cy="292608"/>
          </a:xfrm>
          <a:prstGeom prst="roundRect">
            <a:avLst/>
          </a:prstGeom>
          <a:solidFill>
            <a:srgbClr val="2C1471">
              <a:alpha val="95000"/>
            </a:srgbClr>
          </a:solidFill>
          <a:ln w="15240">
            <a:solidFill>
              <a:srgbClr val="8C60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766560" y="5138928"/>
            <a:ext cx="173736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Ненашев Кирилл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ИС-25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098280" y="3182112"/>
            <a:ext cx="1005840" cy="1005840"/>
          </a:xfrm>
          <a:prstGeom prst="ellipse">
            <a:avLst/>
          </a:prstGeom>
          <a:solidFill>
            <a:srgbClr val="5D2EFF"/>
          </a:solidFill>
          <a:ln w="15240">
            <a:solidFill>
              <a:srgbClr val="FFFFFF">
                <a:alpha val="92000"/>
              </a:srgbClr>
            </a:solidFill>
          </a:ln>
          <a:effectLst>
            <a:outerShdw sx="100000" sy="100000" kx="0" ky="0" algn="bl" rotWithShape="0" blurRad="50800" dist="12700" dir="2700000">
              <a:srgbClr val="A600FF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8842248" y="4315968"/>
            <a:ext cx="1664208" cy="292608"/>
          </a:xfrm>
          <a:prstGeom prst="roundRect">
            <a:avLst/>
          </a:prstGeom>
          <a:solidFill>
            <a:srgbClr val="2C1471">
              <a:alpha val="95000"/>
            </a:srgbClr>
          </a:solidFill>
          <a:ln w="15240">
            <a:solidFill>
              <a:srgbClr val="8C60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8851392" y="5138928"/>
            <a:ext cx="173736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Лукьянов Александр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901952"/>
            <a:ext cx="4251960" cy="4187952"/>
          </a:xfrm>
          <a:prstGeom prst="roundRect">
            <a:avLst>
              <a:gd name="adj" fmla="val 4367"/>
            </a:avLst>
          </a:prstGeom>
          <a:solidFill>
            <a:srgbClr val="090412">
              <a:alpha val="95000"/>
            </a:srgbClr>
          </a:solidFill>
          <a:ln w="12700">
            <a:solidFill>
              <a:srgbClr val="6E38FF">
                <a:alpha val="7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2121408"/>
            <a:ext cx="914400" cy="329184"/>
          </a:xfrm>
          <a:prstGeom prst="roundRect">
            <a:avLst/>
          </a:prstGeom>
          <a:solidFill>
            <a:srgbClr val="220B42">
              <a:alpha val="92000"/>
            </a:srgbClr>
          </a:solidFill>
          <a:ln w="15240">
            <a:solidFill>
              <a:srgbClr val="8F5CFF">
                <a:alpha val="88000"/>
              </a:srgbClr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2578608"/>
            <a:ext cx="3657600" cy="7498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«Помоги одноклассникам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тонуть в учёбе»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1298448" y="3493008"/>
            <a:ext cx="1591056" cy="1591056"/>
          </a:xfrm>
          <a:prstGeom prst="roundRect">
            <a:avLst>
              <a:gd name="adj" fmla="val 10345"/>
            </a:avLst>
          </a:prstGeom>
          <a:solidFill>
            <a:srgbClr val="1B0A35">
              <a:alpha val="85000"/>
            </a:srgbClr>
          </a:solidFill>
          <a:ln w="15240">
            <a:solidFill>
              <a:srgbClr val="F044F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15240" dir="2700000">
              <a:srgbClr val="C000FF">
                <a:alpha val="35000"/>
              </a:srgbClr>
            </a:outerShdw>
          </a:effectLst>
        </p:spPr>
      </p:sp>
      <p:pic>
        <p:nvPicPr>
          <p:cNvPr id="7" name="Image 1" descr="/mnt/data/afb20341-a334-4d21-a243-17feba91d3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566160"/>
            <a:ext cx="1444752" cy="1444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5120640"/>
            <a:ext cx="36576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Миссия: сделать учёбу понятнее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спокойнее для школьников.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5650992"/>
            <a:ext cx="3474720" cy="329184"/>
          </a:xfrm>
          <a:prstGeom prst="roundRect">
            <a:avLst/>
          </a:prstGeom>
          <a:solidFill>
            <a:srgbClr val="1A0A2D">
              <a:alpha val="95000"/>
            </a:srgbClr>
          </a:solidFill>
          <a:ln w="15240">
            <a:solidFill>
              <a:srgbClr val="27D9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мини-приложение внутри Сферума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83680" y="3063240"/>
            <a:ext cx="2240280" cy="384048"/>
          </a:xfrm>
          <a:prstGeom prst="roundRect">
            <a:avLst/>
          </a:prstGeom>
          <a:solidFill>
            <a:srgbClr val="E232FF">
              <a:alpha val="95000"/>
            </a:srgbClr>
          </a:solidFill>
          <a:ln w="15240">
            <a:solidFill>
              <a:srgbClr val="FF8C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Мой Портфель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411480"/>
            <a:ext cx="4297680" cy="1143000"/>
          </a:xfrm>
          <a:prstGeom prst="rect">
            <a:avLst/>
          </a:prstGeom>
          <a:solidFill>
            <a:srgbClr val="D7C0F4"/>
          </a:solidFill>
          <a:ln w="12700">
            <a:solidFill>
              <a:srgbClr val="D7C0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12064"/>
            <a:ext cx="3108960" cy="85953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29184" y="1243584"/>
            <a:ext cx="11475720" cy="3090672"/>
          </a:xfrm>
          <a:prstGeom prst="roundRect">
            <a:avLst>
              <a:gd name="adj" fmla="val 3550"/>
            </a:avLst>
          </a:prstGeom>
          <a:solidFill>
            <a:srgbClr val="D7C0F4"/>
          </a:solidFill>
          <a:ln w="12700">
            <a:solidFill>
              <a:srgbClr val="D7C0F4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30368" y="1124712"/>
            <a:ext cx="2834640" cy="123444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3970">
            <a:solidFill>
              <a:srgbClr val="22D9FF">
                <a:alpha val="95000"/>
              </a:srgbClr>
            </a:solidFill>
          </a:ln>
          <a:effectLst>
            <a:outerShdw sx="100000" sy="100000" kx="0" ky="0" algn="bl" rotWithShape="0" blurRad="38100" dist="12700" dir="2700000">
              <a:srgbClr val="8855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
</a:t>
            </a:r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используют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и более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мессенджеров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21040" y="1124712"/>
            <a:ext cx="2834640" cy="123444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3970">
            <a:solidFill>
              <a:srgbClr val="E756FF">
                <a:alpha val="95000"/>
              </a:srgbClr>
            </a:solidFill>
          </a:ln>
          <a:effectLst>
            <a:outerShdw sx="100000" sy="100000" kx="0" ky="0" algn="bl" rotWithShape="0" blurRad="38100" dist="12700" dir="2700000">
              <a:srgbClr val="8855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
</a:t>
            </a:r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общаются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школьных чатах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30368" y="2770632"/>
            <a:ext cx="2834640" cy="123444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3970">
            <a:solidFill>
              <a:srgbClr val="22D9FF">
                <a:alpha val="95000"/>
              </a:srgbClr>
            </a:solidFill>
          </a:ln>
          <a:effectLst>
            <a:outerShdw sx="100000" sy="100000" kx="0" ky="0" algn="bl" rotWithShape="0" blurRad="38100" dist="12700" dir="2700000">
              <a:srgbClr val="8855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
</a:t>
            </a:r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используют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мессенджеры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учёбы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21040" y="2770632"/>
            <a:ext cx="2834640" cy="123444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3970">
            <a:solidFill>
              <a:srgbClr val="E756FF">
                <a:alpha val="95000"/>
              </a:srgbClr>
            </a:solidFill>
          </a:ln>
          <a:effectLst>
            <a:outerShdw sx="100000" sy="100000" kx="0" ky="0" algn="bl" rotWithShape="0" blurRad="38100" dist="12700" dir="2700000">
              <a:srgbClr val="8855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
</a:t>
            </a:r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считают канал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удобным для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3776" y="1591056"/>
            <a:ext cx="3886200" cy="411480"/>
          </a:xfrm>
          <a:prstGeom prst="roundRect">
            <a:avLst/>
          </a:prstGeom>
          <a:solidFill>
            <a:srgbClr val="EEE1FF"/>
          </a:solidFill>
          <a:ln w="15240">
            <a:solidFill>
              <a:srgbClr val="8F5C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аудитория: школьники 1–11 классов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3776" y="2176272"/>
            <a:ext cx="4251960" cy="10515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Ежедневно получают задания, сообщения и материалы через цифровые каналы.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показывает, что проблема касается массовой школьной коммуникации.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04888" y="2807208"/>
            <a:ext cx="1837944" cy="1837944"/>
          </a:xfrm>
          <a:prstGeom prst="roundRect">
            <a:avLst>
              <a:gd name="adj" fmla="val 8955"/>
            </a:avLst>
          </a:prstGeom>
          <a:solidFill>
            <a:srgbClr val="1B0A35">
              <a:alpha val="85000"/>
            </a:srgbClr>
          </a:solidFill>
          <a:ln w="15240">
            <a:solidFill>
              <a:srgbClr val="F044F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15240" dir="2700000">
              <a:srgbClr val="C000FF">
                <a:alpha val="35000"/>
              </a:srgbClr>
            </a:outerShdw>
          </a:effectLst>
        </p:spPr>
      </p:sp>
      <p:pic>
        <p:nvPicPr>
          <p:cNvPr id="4" name="Image 1" descr="/mnt/data/afb20341-a334-4d21-a243-17feba91d3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880360"/>
            <a:ext cx="1691640" cy="1691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75120" y="1234440"/>
            <a:ext cx="2240280" cy="658368"/>
          </a:xfrm>
          <a:prstGeom prst="roundRect">
            <a:avLst/>
          </a:prstGeom>
          <a:solidFill>
            <a:srgbClr val="1B0D35">
              <a:alpha val="98000"/>
            </a:srgbClr>
          </a:solidFill>
          <a:ln w="15240">
            <a:solidFill>
              <a:srgbClr val="20E5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меняется отдельно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9281160" y="2103120"/>
            <a:ext cx="2240280" cy="658368"/>
          </a:xfrm>
          <a:prstGeom prst="roundRect">
            <a:avLst/>
          </a:prstGeom>
          <a:solidFill>
            <a:srgbClr val="1B0D35">
              <a:alpha val="98000"/>
            </a:srgbClr>
          </a:solidFill>
          <a:ln w="15240">
            <a:solidFill>
              <a:srgbClr val="F044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Школьные чаты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десятки сообщений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26280" y="4434840"/>
            <a:ext cx="2240280" cy="658368"/>
          </a:xfrm>
          <a:prstGeom prst="roundRect">
            <a:avLst/>
          </a:prstGeom>
          <a:solidFill>
            <a:srgbClr val="1B0D35">
              <a:alpha val="98000"/>
            </a:srgbClr>
          </a:solidFill>
          <a:ln w="15240">
            <a:solidFill>
              <a:srgbClr val="20E5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 учителей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важное теряется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281160" y="4343400"/>
            <a:ext cx="2240280" cy="658368"/>
          </a:xfrm>
          <a:prstGeom prst="roundRect">
            <a:avLst/>
          </a:prstGeom>
          <a:solidFill>
            <a:srgbClr val="1B0D35">
              <a:alpha val="98000"/>
            </a:srgbClr>
          </a:solidFill>
          <a:ln w="15240">
            <a:solidFill>
              <a:srgbClr val="F044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лежат в разных местах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543800" y="5394960"/>
            <a:ext cx="2240280" cy="658368"/>
          </a:xfrm>
          <a:prstGeom prst="roundRect">
            <a:avLst/>
          </a:prstGeom>
          <a:solidFill>
            <a:srgbClr val="1B0D35">
              <a:alpha val="98000"/>
            </a:srgbClr>
          </a:solidFill>
          <a:ln w="15240">
            <a:solidFill>
              <a:srgbClr val="20E5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Электронный дневник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один источник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833872" y="6053328"/>
            <a:ext cx="4526280" cy="393192"/>
          </a:xfrm>
          <a:prstGeom prst="roundRect">
            <a:avLst/>
          </a:prstGeom>
          <a:solidFill>
            <a:srgbClr val="7B25F2">
              <a:alpha val="95000"/>
            </a:srgbClr>
          </a:solidFill>
          <a:ln w="15240">
            <a:solidFill>
              <a:srgbClr val="FF58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единая точка обзора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1488" y="219456"/>
            <a:ext cx="694944" cy="694944"/>
          </a:xfrm>
          <a:prstGeom prst="roundRect">
            <a:avLst>
              <a:gd name="adj" fmla="val 23684"/>
            </a:avLst>
          </a:prstGeom>
          <a:solidFill>
            <a:srgbClr val="1B0A35">
              <a:alpha val="85000"/>
            </a:srgbClr>
          </a:solidFill>
          <a:ln w="15240">
            <a:solidFill>
              <a:srgbClr val="F044F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15240" dir="2700000">
              <a:srgbClr val="C000FF">
                <a:alpha val="35000"/>
              </a:srgbClr>
            </a:outerShdw>
          </a:effectLst>
        </p:spPr>
      </p:sp>
      <p:pic>
        <p:nvPicPr>
          <p:cNvPr id="4" name="Image 1" descr="/mnt/data/afb20341-a334-4d21-a243-17feba91d3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92608"/>
            <a:ext cx="548640" cy="548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2331720"/>
            <a:ext cx="5989320" cy="3456432"/>
          </a:xfrm>
          <a:prstGeom prst="roundRect">
            <a:avLst>
              <a:gd name="adj" fmla="val 3704"/>
            </a:avLst>
          </a:prstGeom>
          <a:solidFill>
            <a:srgbClr val="D7C0F4"/>
          </a:solidFill>
          <a:ln w="12700">
            <a:solidFill>
              <a:srgbClr val="D7C0F4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02920" y="2542032"/>
            <a:ext cx="2468880" cy="914400"/>
          </a:xfrm>
          <a:prstGeom prst="roundRect">
            <a:avLst/>
          </a:prstGeom>
          <a:solidFill>
            <a:srgbClr val="170B2E">
              <a:alpha val="92000"/>
            </a:srgbClr>
          </a:solidFill>
          <a:ln w="13970">
            <a:solidFill>
              <a:srgbClr val="F044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СОБИРАЕТ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расписание, сообщения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учебные задания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02920" y="4315968"/>
            <a:ext cx="2468880" cy="914400"/>
          </a:xfrm>
          <a:prstGeom prst="roundRect">
            <a:avLst/>
          </a:prstGeom>
          <a:solidFill>
            <a:srgbClr val="170B2E">
              <a:alpha val="92000"/>
            </a:srgbClr>
          </a:solidFill>
          <a:ln w="13970">
            <a:solidFill>
              <a:srgbClr val="20E5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АНАЛИЗИРУЕТ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предмет, задание,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и приоритет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794760" y="2542032"/>
            <a:ext cx="2468880" cy="914400"/>
          </a:xfrm>
          <a:prstGeom prst="roundRect">
            <a:avLst/>
          </a:prstGeom>
          <a:solidFill>
            <a:srgbClr val="170B2E">
              <a:alpha val="92000"/>
            </a:srgbClr>
          </a:solidFill>
          <a:ln w="13970">
            <a:solidFill>
              <a:srgbClr val="F044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важных действия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сегодня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794760" y="4315968"/>
            <a:ext cx="2468880" cy="914400"/>
          </a:xfrm>
          <a:prstGeom prst="roundRect">
            <a:avLst/>
          </a:prstGeom>
          <a:solidFill>
            <a:srgbClr val="170B2E">
              <a:alpha val="92000"/>
            </a:srgbClr>
          </a:solidFill>
          <a:ln w="13970">
            <a:solidFill>
              <a:srgbClr val="20E5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ИИ-МЕХАНИЗМ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извлекает дату,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и приоритет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035808" y="2834640"/>
            <a:ext cx="502920" cy="301752"/>
          </a:xfrm>
          <a:prstGeom prst="rightArrow">
            <a:avLst/>
          </a:prstGeom>
          <a:solidFill>
            <a:srgbClr val="6F46E8">
              <a:alpha val="95000"/>
            </a:srgbClr>
          </a:solidFill>
          <a:ln w="12700">
            <a:solidFill>
              <a:srgbClr val="6F46E8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536192" y="3547872"/>
            <a:ext cx="292608" cy="502920"/>
          </a:xfrm>
          <a:prstGeom prst="downArrow">
            <a:avLst/>
          </a:prstGeom>
          <a:solidFill>
            <a:srgbClr val="6F46E8">
              <a:alpha val="95000"/>
            </a:srgbClr>
          </a:solidFill>
          <a:ln w="12700">
            <a:solidFill>
              <a:srgbClr val="6F46E8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28032" y="3547872"/>
            <a:ext cx="292608" cy="502920"/>
          </a:xfrm>
          <a:prstGeom prst="downArrow">
            <a:avLst/>
          </a:prstGeom>
          <a:solidFill>
            <a:srgbClr val="6F46E8">
              <a:alpha val="95000"/>
            </a:srgbClr>
          </a:solidFill>
          <a:ln w="12700">
            <a:solidFill>
              <a:srgbClr val="6F46E8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82512" y="2862072"/>
            <a:ext cx="914400" cy="365760"/>
          </a:xfrm>
          <a:prstGeom prst="rightArrow">
            <a:avLst/>
          </a:prstGeom>
          <a:solidFill>
            <a:srgbClr val="1D1238"/>
          </a:solidFill>
          <a:ln w="12700">
            <a:solidFill>
              <a:srgbClr val="1D1238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0352" y="5532120"/>
            <a:ext cx="2194560" cy="347472"/>
          </a:xfrm>
          <a:prstGeom prst="roundRect">
            <a:avLst/>
          </a:prstGeom>
          <a:solidFill>
            <a:srgbClr val="EDE2FF">
              <a:alpha val="95000"/>
            </a:srgbClr>
          </a:solidFill>
          <a:ln w="15240">
            <a:solidFill>
              <a:srgbClr val="815D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Сферума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048" y="1115568"/>
            <a:ext cx="11292840" cy="5257800"/>
          </a:xfrm>
          <a:prstGeom prst="roundRect">
            <a:avLst>
              <a:gd name="adj" fmla="val 2435"/>
            </a:avLst>
          </a:prstGeom>
          <a:solidFill>
            <a:srgbClr val="D8C1F4"/>
          </a:solidFill>
          <a:ln w="12700">
            <a:solidFill>
              <a:srgbClr val="D8C1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1243584"/>
            <a:ext cx="6492240" cy="393192"/>
          </a:xfrm>
          <a:prstGeom prst="roundRect">
            <a:avLst/>
          </a:prstGeom>
          <a:solidFill>
            <a:srgbClr val="FFFFFF">
              <a:alpha val="7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Помогает не забывать важное — </a:t>
            </a:r>
            <a:pPr indent="0" marL="0">
              <a:buNone/>
            </a:pPr>
            <a:r>
              <a:rPr lang="en-US" sz="142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задания, контрольные и сроки не теряются среди сообщений.</a:t>
            </a:r>
            <a:endParaRPr lang="en-US" sz="1420" dirty="0"/>
          </a:p>
        </p:txBody>
      </p:sp>
      <p:sp>
        <p:nvSpPr>
          <p:cNvPr id="5" name="Text 2"/>
          <p:cNvSpPr/>
          <p:nvPr/>
        </p:nvSpPr>
        <p:spPr>
          <a:xfrm>
            <a:off x="566928" y="1901952"/>
            <a:ext cx="6492240" cy="393192"/>
          </a:xfrm>
          <a:prstGeom prst="roundRect">
            <a:avLst/>
          </a:prstGeom>
          <a:solidFill>
            <a:srgbClr val="FFFFFF">
              <a:alpha val="7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Экономит время — </a:t>
            </a:r>
            <a:pPr indent="0" marL="0">
              <a:buNone/>
            </a:pPr>
            <a:r>
              <a:rPr lang="en-US" sz="142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времени уходит на поиск информации.</a:t>
            </a:r>
            <a:endParaRPr lang="en-US" sz="1420" dirty="0"/>
          </a:p>
        </p:txBody>
      </p:sp>
      <p:sp>
        <p:nvSpPr>
          <p:cNvPr id="6" name="Text 3"/>
          <p:cNvSpPr/>
          <p:nvPr/>
        </p:nvSpPr>
        <p:spPr>
          <a:xfrm>
            <a:off x="566928" y="2560320"/>
            <a:ext cx="6492240" cy="393192"/>
          </a:xfrm>
          <a:prstGeom prst="roundRect">
            <a:avLst/>
          </a:prstGeom>
          <a:solidFill>
            <a:srgbClr val="FFFFFF">
              <a:alpha val="7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Снижает нагрузку на память — </a:t>
            </a:r>
            <a:pPr indent="0" marL="0">
              <a:buNone/>
            </a:pPr>
            <a:r>
              <a:rPr lang="en-US" sz="142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нужно держать все задания и даты в голове.</a:t>
            </a:r>
            <a:endParaRPr lang="en-US" sz="1420" dirty="0"/>
          </a:p>
        </p:txBody>
      </p:sp>
      <p:sp>
        <p:nvSpPr>
          <p:cNvPr id="7" name="Text 4"/>
          <p:cNvSpPr/>
          <p:nvPr/>
        </p:nvSpPr>
        <p:spPr>
          <a:xfrm>
            <a:off x="566928" y="3218688"/>
            <a:ext cx="6492240" cy="393192"/>
          </a:xfrm>
          <a:prstGeom prst="roundRect">
            <a:avLst/>
          </a:prstGeom>
          <a:solidFill>
            <a:srgbClr val="FFFFFF">
              <a:alpha val="7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Уменьшает риск пропуска — </a:t>
            </a:r>
            <a:pPr indent="0" marL="0">
              <a:buNone/>
            </a:pPr>
            <a:r>
              <a:rPr lang="en-US" sz="142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важная информация не остаётся незамеченной.</a:t>
            </a:r>
            <a:endParaRPr lang="en-US" sz="1420" dirty="0"/>
          </a:p>
        </p:txBody>
      </p:sp>
      <p:sp>
        <p:nvSpPr>
          <p:cNvPr id="8" name="Text 5"/>
          <p:cNvSpPr/>
          <p:nvPr/>
        </p:nvSpPr>
        <p:spPr>
          <a:xfrm>
            <a:off x="566928" y="3749040"/>
            <a:ext cx="2834640" cy="896112"/>
          </a:xfrm>
          <a:prstGeom prst="roundRect">
            <a:avLst/>
          </a:prstGeom>
          <a:solidFill>
            <a:srgbClr val="F7ECFF"/>
          </a:solidFill>
          <a:ln w="13970">
            <a:solidFill>
              <a:srgbClr val="20E5FF"/>
            </a:solidFill>
          </a:ln>
          <a:effectLst>
            <a:outerShdw sx="100000" sy="100000" kx="0" ky="0" algn="bl" rotWithShape="0" blurRad="38100" dist="12700" dir="2700000">
              <a:srgbClr val="A46B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15–30%
</a:t>
            </a:r>
            <a:pPr indent="0" marL="0">
              <a:buNone/>
            </a:pPr>
            <a:r>
              <a:rPr lang="en-US" sz="17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времени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поиск информации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657600" y="3749040"/>
            <a:ext cx="2834640" cy="896112"/>
          </a:xfrm>
          <a:prstGeom prst="roundRect">
            <a:avLst/>
          </a:prstGeom>
          <a:solidFill>
            <a:srgbClr val="F7ECFF"/>
          </a:solidFill>
          <a:ln w="13970">
            <a:solidFill>
              <a:srgbClr val="F044FF"/>
            </a:solidFill>
          </a:ln>
          <a:effectLst>
            <a:outerShdw sx="100000" sy="100000" kx="0" ky="0" algn="bl" rotWithShape="0" blurRad="38100" dist="12700" dir="2700000">
              <a:srgbClr val="A46B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
</a:t>
            </a:r>
            <a:pPr indent="0" marL="0">
              <a:buNone/>
            </a:pPr>
            <a:r>
              <a:rPr lang="en-US" sz="17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забытых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пропущенных заданий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748272" y="3749040"/>
            <a:ext cx="2834640" cy="896112"/>
          </a:xfrm>
          <a:prstGeom prst="roundRect">
            <a:avLst/>
          </a:prstGeom>
          <a:solidFill>
            <a:srgbClr val="F7ECFF"/>
          </a:solidFill>
          <a:ln w="13970">
            <a:solidFill>
              <a:srgbClr val="20E5FF"/>
            </a:solidFill>
          </a:ln>
          <a:effectLst>
            <a:outerShdw sx="100000" sy="100000" kx="0" ky="0" algn="bl" rotWithShape="0" blurRad="38100" dist="12700" dir="2700000">
              <a:srgbClr val="A46B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82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5–11 классы
</a:t>
            </a:r>
            <a:pPr indent="0" marL="0">
              <a:buNone/>
            </a:pPr>
            <a:r>
              <a:rPr lang="en-US" sz="17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аудитория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ежедневного использования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5724144"/>
            <a:ext cx="9692640" cy="384048"/>
          </a:xfrm>
          <a:prstGeom prst="roundRect">
            <a:avLst/>
          </a:prstGeom>
          <a:solidFill>
            <a:srgbClr val="F8F0FF">
              <a:alpha val="95000"/>
            </a:srgbClr>
          </a:solidFill>
          <a:ln w="15240">
            <a:solidFill>
              <a:srgbClr val="7F63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Предполагаемый эффект и охват — измеримые показатели для критерия пользы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0896" y="1097280"/>
            <a:ext cx="5669280" cy="4873752"/>
          </a:xfrm>
          <a:prstGeom prst="roundRect">
            <a:avLst>
              <a:gd name="adj" fmla="val 3002"/>
            </a:avLst>
          </a:prstGeom>
          <a:solidFill>
            <a:srgbClr val="090412"/>
          </a:solidFill>
          <a:ln w="10160">
            <a:solidFill>
              <a:srgbClr val="5D2EFF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5488" y="1298448"/>
            <a:ext cx="3474720" cy="32918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Используя Мой Портфель: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059168" y="1554480"/>
            <a:ext cx="2203704" cy="2203704"/>
          </a:xfrm>
          <a:prstGeom prst="roundRect">
            <a:avLst>
              <a:gd name="adj" fmla="val 7469"/>
            </a:avLst>
          </a:prstGeom>
          <a:solidFill>
            <a:srgbClr val="1B0A35">
              <a:alpha val="85000"/>
            </a:srgbClr>
          </a:solidFill>
          <a:ln w="15240">
            <a:solidFill>
              <a:srgbClr val="F044F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15240" dir="2700000">
              <a:srgbClr val="C000FF">
                <a:alpha val="35000"/>
              </a:srgbClr>
            </a:outerShdw>
          </a:effectLst>
        </p:spPr>
      </p:sp>
      <p:pic>
        <p:nvPicPr>
          <p:cNvPr id="6" name="Image 1" descr="/mnt/data/afb20341-a334-4d21-a243-17feba91d3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27632"/>
            <a:ext cx="2057400" cy="2057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27648" y="749808"/>
            <a:ext cx="2011680" cy="457200"/>
          </a:xfrm>
          <a:prstGeom prst="roundRect">
            <a:avLst/>
          </a:prstGeom>
          <a:solidFill>
            <a:srgbClr val="1B0D35">
              <a:alpha val="95000"/>
            </a:srgbClr>
          </a:solidFill>
          <a:ln w="15240">
            <a:solidFill>
              <a:srgbClr val="815D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Задания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281160" y="886968"/>
            <a:ext cx="1920240" cy="457200"/>
          </a:xfrm>
          <a:prstGeom prst="roundRect">
            <a:avLst/>
          </a:prstGeom>
          <a:solidFill>
            <a:srgbClr val="1B0D35">
              <a:alpha val="95000"/>
            </a:srgbClr>
          </a:solidFill>
          <a:ln w="15240">
            <a:solidFill>
              <a:srgbClr val="F044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326880" y="2770632"/>
            <a:ext cx="2057400" cy="457200"/>
          </a:xfrm>
          <a:prstGeom prst="roundRect">
            <a:avLst/>
          </a:prstGeom>
          <a:solidFill>
            <a:srgbClr val="1B0D35">
              <a:alpha val="95000"/>
            </a:srgbClr>
          </a:solidFill>
          <a:ln w="15240">
            <a:solidFill>
              <a:srgbClr val="20E5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766560" y="4892040"/>
            <a:ext cx="4343400" cy="786384"/>
          </a:xfrm>
          <a:prstGeom prst="roundRect">
            <a:avLst/>
          </a:prstGeom>
          <a:solidFill>
            <a:srgbClr val="591ED4">
              <a:alpha val="95000"/>
            </a:srgbClr>
          </a:solidFill>
          <a:ln w="15240">
            <a:solidFill>
              <a:srgbClr val="FF5B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сейчас?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нельзя пропустить?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38912" y="1901952"/>
            <a:ext cx="4206240" cy="393192"/>
          </a:xfrm>
          <a:prstGeom prst="roundRect">
            <a:avLst/>
          </a:prstGeom>
          <a:solidFill>
            <a:srgbClr val="220B42">
              <a:alpha val="95000"/>
            </a:srgbClr>
          </a:solidFill>
          <a:ln w="15240">
            <a:solidFill>
              <a:srgbClr val="8F5C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больше не теряется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5488" y="2432304"/>
            <a:ext cx="4526280" cy="84124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задания, сроки, материалы и важные сообщения собираются в одном месте. Ученик не ищет задание по чатам и не вспоминает, где его отправили.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38912" y="3858768"/>
            <a:ext cx="4681728" cy="393192"/>
          </a:xfrm>
          <a:prstGeom prst="roundRect">
            <a:avLst/>
          </a:prstGeom>
          <a:solidFill>
            <a:srgbClr val="220B42">
              <a:alpha val="95000"/>
            </a:srgbClr>
          </a:solidFill>
          <a:ln w="15240">
            <a:solidFill>
              <a:srgbClr val="8F5C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Ученик понимает, что делать сейчас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" y="4389120"/>
            <a:ext cx="4526280" cy="731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выделяет актуальные задачи и напоминает о важных событиях в нужный момент: что сделать сейчас и что нельзя пропустить.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52" y="475488"/>
            <a:ext cx="4709160" cy="5705856"/>
          </a:xfrm>
          <a:prstGeom prst="roundRect">
            <a:avLst>
              <a:gd name="adj" fmla="val 3495"/>
            </a:avLst>
          </a:prstGeom>
          <a:solidFill>
            <a:srgbClr val="0B0617">
              <a:alpha val="97000"/>
            </a:srgbClr>
          </a:solidFill>
          <a:ln w="12700">
            <a:solidFill>
              <a:srgbClr val="6B3DFF">
                <a:alpha val="6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749808"/>
            <a:ext cx="4206240" cy="9601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50800" dir="2700000">
              <a:srgbClr val="9F47FF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ТЕХНИЧЕСКИЕ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12064" y="1828800"/>
            <a:ext cx="4206240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потребуется для реализации мини-приложения: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2064" y="2331720"/>
            <a:ext cx="4023360" cy="502920"/>
          </a:xfrm>
          <a:prstGeom prst="roundRect">
            <a:avLst/>
          </a:prstGeom>
          <a:solidFill>
            <a:srgbClr val="170B2E">
              <a:alpha val="92000"/>
            </a:srgbClr>
          </a:solidFill>
          <a:ln w="13970">
            <a:solidFill>
              <a:srgbClr val="20E5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веб-экран внутри Сферума / MAX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12064" y="2990088"/>
            <a:ext cx="4023360" cy="502920"/>
          </a:xfrm>
          <a:prstGeom prst="roundRect">
            <a:avLst/>
          </a:prstGeom>
          <a:solidFill>
            <a:srgbClr val="170B2E">
              <a:alpha val="92000"/>
            </a:srgbClr>
          </a:solidFill>
          <a:ln w="13970">
            <a:solidFill>
              <a:srgbClr val="F044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чаты, задания, файлы, расписание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12064" y="3648456"/>
            <a:ext cx="4023360" cy="502920"/>
          </a:xfrm>
          <a:prstGeom prst="roundRect">
            <a:avLst/>
          </a:prstGeom>
          <a:solidFill>
            <a:srgbClr val="170B2E">
              <a:alpha val="92000"/>
            </a:srgbClr>
          </a:solidFill>
          <a:ln w="13970">
            <a:solidFill>
              <a:srgbClr val="20E5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ИИ-обработка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извлечение предмета, срока и приоритета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12064" y="4306824"/>
            <a:ext cx="4023360" cy="502920"/>
          </a:xfrm>
          <a:prstGeom prst="roundRect">
            <a:avLst/>
          </a:prstGeom>
          <a:solidFill>
            <a:srgbClr val="170B2E">
              <a:alpha val="92000"/>
            </a:srgbClr>
          </a:solidFill>
          <a:ln w="13970">
            <a:solidFill>
              <a:srgbClr val="F044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задачи, статусы, напоминания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12064" y="4965192"/>
            <a:ext cx="4023360" cy="502920"/>
          </a:xfrm>
          <a:prstGeom prst="roundRect">
            <a:avLst/>
          </a:prstGeom>
          <a:solidFill>
            <a:srgbClr val="170B2E">
              <a:alpha val="92000"/>
            </a:srgbClr>
          </a:solidFill>
          <a:ln w="13970">
            <a:solidFill>
              <a:srgbClr val="20E5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персональных данных, доступ по роли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42048" y="1024128"/>
            <a:ext cx="2157984" cy="2157984"/>
          </a:xfrm>
          <a:prstGeom prst="roundRect">
            <a:avLst>
              <a:gd name="adj" fmla="val 7627"/>
            </a:avLst>
          </a:prstGeom>
          <a:solidFill>
            <a:srgbClr val="1B0A35">
              <a:alpha val="85000"/>
            </a:srgbClr>
          </a:solidFill>
          <a:ln w="15240">
            <a:solidFill>
              <a:srgbClr val="F044F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15240" dir="2700000">
              <a:srgbClr val="C000FF">
                <a:alpha val="35000"/>
              </a:srgbClr>
            </a:outerShdw>
          </a:effectLst>
        </p:spPr>
      </p:sp>
      <p:pic>
        <p:nvPicPr>
          <p:cNvPr id="12" name="Image 1" descr="/mnt/data/afb20341-a334-4d21-a243-17feba91d3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2011680" cy="2011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3749040"/>
            <a:ext cx="4206240" cy="685800"/>
          </a:xfrm>
          <a:prstGeom prst="roundRect">
            <a:avLst/>
          </a:prstGeom>
          <a:solidFill>
            <a:srgbClr val="4211A9">
              <a:alpha val="95000"/>
            </a:srgbClr>
          </a:solidFill>
          <a:ln w="15240">
            <a:solidFill>
              <a:srgbClr val="F044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должен запускаться в MAX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показывать рабочую логику сервиса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84048"/>
            <a:ext cx="11201400" cy="6016752"/>
          </a:xfrm>
          <a:prstGeom prst="roundRect">
            <a:avLst>
              <a:gd name="adj" fmla="val 2736"/>
            </a:avLst>
          </a:prstGeom>
          <a:solidFill>
            <a:srgbClr val="08040F">
              <a:alpha val="96000"/>
            </a:srgbClr>
          </a:solidFill>
          <a:ln w="12700">
            <a:solidFill>
              <a:srgbClr val="5D2EFF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5488" y="493776"/>
            <a:ext cx="38404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50800" dir="2700000">
              <a:srgbClr val="9F47FF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12064" y="1234440"/>
            <a:ext cx="457200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работы мини-приложения: от школьных источников к понятному списку действий.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578608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84064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89520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12064" y="2542032"/>
            <a:ext cx="2011680" cy="1078992"/>
          </a:xfrm>
          <a:prstGeom prst="roundRect">
            <a:avLst/>
          </a:prstGeom>
          <a:solidFill>
            <a:srgbClr val="170B2E">
              <a:alpha val="97000"/>
            </a:srgbClr>
          </a:solidFill>
          <a:ln w="13970">
            <a:solidFill>
              <a:srgbClr val="20E5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Источники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чаты, файлы, расписание, дневник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07792" y="2542032"/>
            <a:ext cx="2011680" cy="1078992"/>
          </a:xfrm>
          <a:prstGeom prst="roundRect">
            <a:avLst/>
          </a:prstGeom>
          <a:solidFill>
            <a:srgbClr val="170B2E">
              <a:alpha val="97000"/>
            </a:srgbClr>
          </a:solidFill>
          <a:ln w="13970">
            <a:solidFill>
              <a:srgbClr val="F044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Сбор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получение новых учебных сигналов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13248" y="2542032"/>
            <a:ext cx="2011680" cy="1078992"/>
          </a:xfrm>
          <a:prstGeom prst="roundRect">
            <a:avLst/>
          </a:prstGeom>
          <a:solidFill>
            <a:srgbClr val="170B2E">
              <a:alpha val="97000"/>
            </a:srgbClr>
          </a:solidFill>
          <a:ln w="13970">
            <a:solidFill>
              <a:srgbClr val="20E5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Анализ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предмет, дата, срочность, приоритет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00416" y="2542032"/>
            <a:ext cx="2011680" cy="1078992"/>
          </a:xfrm>
          <a:prstGeom prst="roundRect">
            <a:avLst/>
          </a:prstGeom>
          <a:solidFill>
            <a:srgbClr val="170B2E">
              <a:alpha val="97000"/>
            </a:srgbClr>
          </a:solidFill>
          <a:ln w="13970">
            <a:solidFill>
              <a:srgbClr val="F044FF"/>
            </a:solidFill>
          </a:ln>
          <a:effectLst>
            <a:outerShdw sx="100000" sy="100000" kx="0" ky="0" algn="bl" rotWithShape="0" blurRad="38100" dist="12700" dir="2700000">
              <a:srgbClr val="B000FF">
                <a:alpha val="18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Выдача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важных действия и напоминания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4956048"/>
            <a:ext cx="8778240" cy="502920"/>
          </a:xfrm>
          <a:prstGeom prst="roundRect">
            <a:avLst/>
          </a:prstGeom>
          <a:solidFill>
            <a:srgbClr val="6522D8">
              <a:alpha val="95000"/>
            </a:srgbClr>
          </a:solidFill>
          <a:ln w="15240">
            <a:solidFill>
              <a:srgbClr val="FF5B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ученик видит не поток сообщений, а понятную карту ближайших действий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828800" y="5605272"/>
            <a:ext cx="7132320" cy="384048"/>
          </a:xfrm>
          <a:prstGeom prst="roundRect">
            <a:avLst/>
          </a:prstGeom>
          <a:solidFill>
            <a:srgbClr val="1B0D35">
              <a:alpha val="95000"/>
            </a:srgbClr>
          </a:solidFill>
          <a:ln w="15240">
            <a:solidFill>
              <a:srgbClr val="21D9FF"/>
            </a:solidFill>
          </a:ln>
          <a:effectLst>
            <a:outerShdw sx="100000" sy="100000" kx="0" ky="0" algn="bl" rotWithShape="0" blurRad="50800" dist="12700" dir="2700000">
              <a:srgbClr val="B000FF">
                <a:alpha val="25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Гибкая архитектура: можно добавлять новые источники и сценарии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render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2336" y="1115568"/>
            <a:ext cx="4370832" cy="1024128"/>
          </a:xfrm>
          <a:prstGeom prst="roundRect">
            <a:avLst>
              <a:gd name="adj" fmla="val 17857"/>
            </a:avLst>
          </a:prstGeom>
          <a:solidFill>
            <a:srgbClr val="110820">
              <a:alpha val="96000"/>
            </a:srgbClr>
          </a:solidFill>
          <a:ln w="15240">
            <a:solidFill>
              <a:srgbClr val="8A4DFF">
                <a:alpha val="9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9B30FF">
                <a:alpha val="22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512064" y="1207008"/>
            <a:ext cx="841248" cy="841248"/>
          </a:xfrm>
          <a:prstGeom prst="roundRect">
            <a:avLst>
              <a:gd name="adj" fmla="val 19565"/>
            </a:avLst>
          </a:prstGeom>
          <a:solidFill>
            <a:srgbClr val="1B0A35">
              <a:alpha val="85000"/>
            </a:srgbClr>
          </a:solidFill>
          <a:ln w="15240">
            <a:solidFill>
              <a:srgbClr val="F044F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15240" dir="2700000">
              <a:srgbClr val="C000FF">
                <a:alpha val="35000"/>
              </a:srgbClr>
            </a:outerShdw>
          </a:effectLst>
        </p:spPr>
      </p:sp>
      <p:pic>
        <p:nvPicPr>
          <p:cNvPr id="5" name="Image 1" descr="/mnt/data/afb20341-a334-4d21-a243-17feba91d3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280160"/>
            <a:ext cx="694944" cy="6949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44752" y="1298448"/>
            <a:ext cx="297180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50800" dir="2700000">
              <a:srgbClr val="9F47FF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Мой Портфель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444752" y="1783080"/>
            <a:ext cx="24231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F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главном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21792" y="5285232"/>
            <a:ext cx="10972800" cy="932688"/>
          </a:xfrm>
          <a:prstGeom prst="roundRect">
            <a:avLst>
              <a:gd name="adj" fmla="val 19608"/>
            </a:avLst>
          </a:prstGeom>
          <a:solidFill>
            <a:srgbClr val="110820">
              <a:alpha val="93000"/>
            </a:srgbClr>
          </a:solidFill>
          <a:ln w="15240">
            <a:solidFill>
              <a:srgbClr val="FF48FF">
                <a:alpha val="88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5422392"/>
            <a:ext cx="2926080" cy="274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аргумента в защиту идеи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5742432"/>
            <a:ext cx="9875520" cy="3931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Решение работает с уже существующей учебной коммуникацией Сферума — не создаёт новый хаос.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Продукт помогает школьнику быстрее понять, что важно сейчас, поэтому его можно внедрять и масштабировать поэтапно.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IcasGroup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Мой Портфель</dc:title>
  <dc:subject>Мой Портфель — презентация для хакатона Идея Фикс</dc:subject>
  <dc:creator>IcasGroup</dc:creator>
  <cp:lastModifiedBy>IcasGroup</cp:lastModifiedBy>
  <cp:revision>1</cp:revision>
  <dcterms:created xsi:type="dcterms:W3CDTF">2026-09-24T22:10:34Z</dcterms:created>
  <dcterms:modified xsi:type="dcterms:W3CDTF">2026-09-24T22:10:34Z</dcterms:modified>
</cp:coreProperties>
</file>