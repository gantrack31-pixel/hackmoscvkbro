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 Tight Medium"/>
      <p:regular r:id="rId17"/>
    </p:embeddedFont>
    <p:embeddedFont>
      <p:font typeface="Inter Tight Medium"/>
      <p:regular r:id="rId18"/>
    </p:embeddedFont>
    <p:embeddedFont>
      <p:font typeface="Inter Tight Medium"/>
      <p:regular r:id="rId19"/>
    </p:embeddedFont>
    <p:embeddedFont>
      <p:font typeface="Inter Tight Medium"/>
      <p:regular r:id="rId20"/>
    </p:embeddedFont>
    <p:embeddedFont>
      <p:font typeface="Inter Tight"/>
      <p:regular r:id="rId21"/>
    </p:embeddedFont>
    <p:embeddedFont>
      <p:font typeface="Inter Tight"/>
      <p:regular r:id="rId22"/>
    </p:embeddedFont>
    <p:embeddedFont>
      <p:font typeface="Inter Tight"/>
      <p:regular r:id="rId23"/>
    </p:embeddedFont>
    <p:embeddedFont>
      <p:font typeface="Inter Tigh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22233" y="980718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2233" y="1460421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2233" y="2017514"/>
            <a:ext cx="9889212" cy="118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0"/>
              </a:lnSpc>
              <a:buNone/>
            </a:pPr>
            <a:r>
              <a:rPr lang="en-US" sz="77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Process</a:t>
            </a:r>
            <a:endParaRPr lang="en-US" sz="7750" dirty="0"/>
          </a:p>
        </p:txBody>
      </p:sp>
      <p:sp>
        <p:nvSpPr>
          <p:cNvPr id="7" name="Text 4"/>
          <p:cNvSpPr/>
          <p:nvPr/>
        </p:nvSpPr>
        <p:spPr>
          <a:xfrm>
            <a:off x="722233" y="3513773"/>
            <a:ext cx="9889212" cy="118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0"/>
              </a:lnSpc>
              <a:buNone/>
            </a:pPr>
            <a:r>
              <a:rPr lang="en-US" sz="77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Documentation</a:t>
            </a:r>
            <a:endParaRPr lang="en-US" sz="7750" dirty="0"/>
          </a:p>
        </p:txBody>
      </p:sp>
      <p:sp>
        <p:nvSpPr>
          <p:cNvPr id="8" name="Text 5"/>
          <p:cNvSpPr/>
          <p:nvPr/>
        </p:nvSpPr>
        <p:spPr>
          <a:xfrm>
            <a:off x="722233" y="5010031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2233" y="5675471"/>
            <a:ext cx="6341269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095" y="5721906"/>
            <a:ext cx="1445062" cy="567452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265" y="5721906"/>
            <a:ext cx="1701522" cy="5674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74518" y="6521529"/>
            <a:ext cx="6341269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22233" y="7186970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633174"/>
            <a:ext cx="9402485" cy="68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Why Process Documentation Matters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722233" y="1733788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2233" y="2213491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2233" y="2878931"/>
            <a:ext cx="7710130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Clear documentation is the foundation of operational efficiency. Well-documented processes reduce errors, accelerate onboarding, and ensure consistency across teams.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233" y="3606165"/>
            <a:ext cx="7710130" cy="37254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43380" y="2925366"/>
            <a:ext cx="4972288" cy="1342073"/>
          </a:xfrm>
          <a:prstGeom prst="roundRect">
            <a:avLst>
              <a:gd name="adj" fmla="val 8176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20520" y="2925366"/>
            <a:ext cx="91440" cy="1342073"/>
          </a:xfrm>
          <a:prstGeom prst="roundRect">
            <a:avLst>
              <a:gd name="adj" fmla="val 203135"/>
            </a:avLst>
          </a:prstGeom>
          <a:solidFill>
            <a:srgbClr val="FE6A03"/>
          </a:solidFill>
          <a:ln/>
        </p:spPr>
      </p:sp>
      <p:sp>
        <p:nvSpPr>
          <p:cNvPr id="9" name="Text 6"/>
          <p:cNvSpPr/>
          <p:nvPr/>
        </p:nvSpPr>
        <p:spPr>
          <a:xfrm>
            <a:off x="9241155" y="3154561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Faster Onboarding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241155" y="3790712"/>
            <a:ext cx="4445318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With documented processes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943380" y="4473773"/>
            <a:ext cx="4972288" cy="1342073"/>
          </a:xfrm>
          <a:prstGeom prst="roundRect">
            <a:avLst>
              <a:gd name="adj" fmla="val 8176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20520" y="4473773"/>
            <a:ext cx="91440" cy="1342073"/>
          </a:xfrm>
          <a:prstGeom prst="roundRect">
            <a:avLst>
              <a:gd name="adj" fmla="val 203135"/>
            </a:avLst>
          </a:prstGeom>
          <a:solidFill>
            <a:srgbClr val="FE6A03"/>
          </a:solidFill>
          <a:ln/>
        </p:spPr>
      </p:sp>
      <p:sp>
        <p:nvSpPr>
          <p:cNvPr id="13" name="Text 10"/>
          <p:cNvSpPr/>
          <p:nvPr/>
        </p:nvSpPr>
        <p:spPr>
          <a:xfrm>
            <a:off x="9241155" y="4702969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Error Reduction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241155" y="5339120"/>
            <a:ext cx="4445318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Through standardization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943380" y="6022181"/>
            <a:ext cx="4972288" cy="1342073"/>
          </a:xfrm>
          <a:prstGeom prst="roundRect">
            <a:avLst>
              <a:gd name="adj" fmla="val 8176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20520" y="6022181"/>
            <a:ext cx="91440" cy="1342073"/>
          </a:xfrm>
          <a:prstGeom prst="roundRect">
            <a:avLst>
              <a:gd name="adj" fmla="val 203135"/>
            </a:avLst>
          </a:prstGeom>
          <a:solidFill>
            <a:srgbClr val="FE6A03"/>
          </a:solidFill>
          <a:ln/>
        </p:spPr>
      </p:sp>
      <p:sp>
        <p:nvSpPr>
          <p:cNvPr id="17" name="Text 14"/>
          <p:cNvSpPr/>
          <p:nvPr/>
        </p:nvSpPr>
        <p:spPr>
          <a:xfrm>
            <a:off x="9241155" y="6251377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Knowledge Retention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9241155" y="6887528"/>
            <a:ext cx="4445318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Improved information preservation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1138238"/>
            <a:ext cx="5732859" cy="68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Key Stakeholders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722233" y="2135743"/>
            <a:ext cx="7699534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Process documentation serves multiple audiences across the organization, from new hires learning procedures to managers optimizing workflows.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2233" y="2862977"/>
            <a:ext cx="76995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2233" y="3342680"/>
            <a:ext cx="76995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2233" y="3822383"/>
            <a:ext cx="7699534" cy="1531263"/>
          </a:xfrm>
          <a:prstGeom prst="roundRect">
            <a:avLst>
              <a:gd name="adj" fmla="val 12130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68" y="3721418"/>
            <a:ext cx="247650" cy="24765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82" y="5206960"/>
            <a:ext cx="247650" cy="2476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4656" y="4154805"/>
            <a:ext cx="7034689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"Having clear documentation made my first month so much easier. I could find answers without constantly asking questions."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054656" y="4773692"/>
            <a:ext cx="7034689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— New Team Member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22233" y="5559981"/>
            <a:ext cx="7699534" cy="1531263"/>
          </a:xfrm>
          <a:prstGeom prst="roundRect">
            <a:avLst>
              <a:gd name="adj" fmla="val 12130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68" y="5459016"/>
            <a:ext cx="247650" cy="24765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082" y="6944558"/>
            <a:ext cx="247650" cy="2476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4656" y="5892403"/>
            <a:ext cx="7034689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"When processes are documented, we can identify bottlenecks and make improvements based on data, not guesswork."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054656" y="6511290"/>
            <a:ext cx="7034689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— Operations Manager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8633" y="818317"/>
            <a:ext cx="7183993" cy="68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Our Documentation Portfolio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6208633" y="1815822"/>
            <a:ext cx="7699534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Our robust documentation framework spans three essential categories, each tailored to empower our teams, streamline operations, and ensure consistent excellence.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08633" y="2543056"/>
            <a:ext cx="76995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08633" y="3022759"/>
            <a:ext cx="4876324" cy="1476613"/>
          </a:xfrm>
          <a:prstGeom prst="roundRect">
            <a:avLst>
              <a:gd name="adj" fmla="val 12579"/>
            </a:avLst>
          </a:prstGeom>
          <a:solidFill>
            <a:srgbClr val="1F1F1F"/>
          </a:solidFill>
          <a:ln w="7620">
            <a:solidFill>
              <a:srgbClr val="3838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2588" y="3236714"/>
            <a:ext cx="4239816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Standard Procedures (SPs)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22588" y="3790355"/>
            <a:ext cx="4448413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Essential for consistent </a:t>
            </a:r>
            <a:pPr algn="l" indent="0" marL="0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daily operations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and routine tasks.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08633" y="4602480"/>
            <a:ext cx="6287929" cy="1476613"/>
          </a:xfrm>
          <a:prstGeom prst="roundRect">
            <a:avLst>
              <a:gd name="adj" fmla="val 12579"/>
            </a:avLst>
          </a:prstGeom>
          <a:solidFill>
            <a:srgbClr val="1F1F1F"/>
          </a:solidFill>
          <a:ln w="762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2588" y="4816435"/>
            <a:ext cx="426505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In-Depth Reference Guides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22588" y="5370076"/>
            <a:ext cx="5860018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Comprehensive resources for navigating </a:t>
            </a:r>
            <a:pPr algn="l" indent="0" marL="0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complex projects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and advanced functions.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08633" y="6182201"/>
            <a:ext cx="7699534" cy="1229082"/>
          </a:xfrm>
          <a:prstGeom prst="roundRect">
            <a:avLst>
              <a:gd name="adj" fmla="val 15113"/>
            </a:avLst>
          </a:prstGeom>
          <a:solidFill>
            <a:srgbClr val="1F1F1F"/>
          </a:solidFill>
          <a:ln w="7620">
            <a:solidFill>
              <a:srgbClr val="3838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2588" y="6396157"/>
            <a:ext cx="3998833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Critical Incident Protocols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22588" y="6949797"/>
            <a:ext cx="7271623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Definitive steps for managing </a:t>
            </a:r>
            <a:pPr algn="l" indent="0" marL="0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high-priority situations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and urgent responses.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1110972"/>
            <a:ext cx="5732859" cy="68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Improvement Strategy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722233" y="2211586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2233" y="2691289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2233" y="3170992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233" y="3650694"/>
            <a:ext cx="4395311" cy="825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8568" y="4682490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Standard Procedures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28568" y="5236131"/>
            <a:ext cx="398264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25 → 40 processes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44" y="3650694"/>
            <a:ext cx="4395311" cy="825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23880" y="4682490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Reference Guides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5323880" y="5236131"/>
            <a:ext cx="398264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15 → 25 guides</a:t>
            </a:r>
            <a:endParaRPr lang="en-US" sz="1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856" y="3650694"/>
            <a:ext cx="4395311" cy="825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9191" y="4682490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New Categories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9719191" y="5236131"/>
            <a:ext cx="398264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 → 12 documents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719191" y="5607487"/>
            <a:ext cx="398264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22233" y="6479262"/>
            <a:ext cx="6341269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Stakeholder interviews: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Identify documentation user research</a:t>
            </a:r>
            <a:endParaRPr lang="en-US" sz="16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Template standardization: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Consistent formats for easier creation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574518" y="6479262"/>
            <a:ext cx="6341269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Review cycles: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Regular updates with subject matter experts</a:t>
            </a:r>
            <a:endParaRPr lang="en-US" sz="16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Accessibility testing: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Ensure usability across all user groups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117" y="1770459"/>
            <a:ext cx="5104448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Measuring Documentation Effectiveness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61117" y="2217539"/>
            <a:ext cx="1390816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1117" y="2368391"/>
            <a:ext cx="1390816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1117" y="2592467"/>
            <a:ext cx="291822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B5B5B5"/>
                </a:solidFill>
                <a:latin typeface="-apple-system, BlinkMacSystemFont, Segoe UI, Roboto, Helvetica Neue, Arial, sans-serif Black" pitchFamily="34" charset="0"/>
                <a:ea typeface="-apple-system, BlinkMacSystemFont, Segoe UI, Roboto, Helvetica Neue, Arial, sans-serif Black" pitchFamily="34" charset="-122"/>
                <a:cs typeface="-apple-system, BlinkMacSystemFont, Segoe UI, Roboto, Helvetica Neue, Arial, sans-serif Black" pitchFamily="34" charset="-120"/>
              </a:rPr>
              <a:t>6%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61117" y="2805827"/>
            <a:ext cx="897850" cy="121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B5B5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Total conversion rate 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17" y="3003590"/>
            <a:ext cx="6828234" cy="236243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48669" y="2577227"/>
            <a:ext cx="6828234" cy="329565"/>
          </a:xfrm>
          <a:prstGeom prst="roundRect">
            <a:avLst>
              <a:gd name="adj" fmla="val 28180"/>
            </a:avLst>
          </a:prstGeom>
          <a:solidFill>
            <a:srgbClr val="000000">
              <a:alpha val="95000"/>
            </a:srgbClr>
          </a:solidFill>
          <a:ln w="15240">
            <a:solidFill>
              <a:srgbClr val="3838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67017" y="2695575"/>
            <a:ext cx="659153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8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Content Lifecycle &amp; Update Frequency. Our rigorous quarterly review cycle ensures all documentation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448669" y="2964775"/>
            <a:ext cx="682823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669" y="3115628"/>
            <a:ext cx="309562" cy="1143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09786" y="3218736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XX$ 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7448669" y="3809643"/>
            <a:ext cx="682823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8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This, combined with our low maintenance burden, confirms the effectiveness of our well-designed content in meeting critical user needs across the organization.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3292316"/>
            <a:ext cx="7166134" cy="859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Value &amp; Benefits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722233" y="4461748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22233" y="4941451"/>
            <a:ext cx="4257675" cy="619125"/>
          </a:xfrm>
          <a:prstGeom prst="roundRect">
            <a:avLst>
              <a:gd name="adj" fmla="val 480024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696289" y="5065276"/>
            <a:ext cx="30956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28568" y="5766911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Efficiency Gains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28568" y="6320552"/>
            <a:ext cx="3845004" cy="99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Teams with documented processes complete tasks </a:t>
            </a:r>
            <a:pPr algn="l" indent="0" marL="0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30% faster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,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making documentation the highest-impact productivity investment.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86243" y="4941451"/>
            <a:ext cx="4257794" cy="619125"/>
          </a:xfrm>
          <a:prstGeom prst="roundRect">
            <a:avLst>
              <a:gd name="adj" fmla="val 480024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60300" y="5065276"/>
            <a:ext cx="30956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392579" y="5766911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Quality Improvement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392579" y="6320552"/>
            <a:ext cx="3845123" cy="74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Standardized processes reduce defects and errors by </a:t>
            </a:r>
            <a:pPr algn="l" indent="0" marL="0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40%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, improving output quality and reducing rework.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650373" y="4941451"/>
            <a:ext cx="4257675" cy="619125"/>
          </a:xfrm>
          <a:prstGeom prst="roundRect">
            <a:avLst>
              <a:gd name="adj" fmla="val 480024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624429" y="5065276"/>
            <a:ext cx="30956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856708" y="5766911"/>
            <a:ext cx="383964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Knowledge Preservation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9856708" y="6320552"/>
            <a:ext cx="3845004" cy="99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Organizations with strong documentation show </a:t>
            </a:r>
            <a:pPr algn="l" indent="0" marL="0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50% better knowledge retention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during staff transitions and organizational changes.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910709"/>
            <a:ext cx="7334488" cy="68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New Documentation Planned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722233" y="1908215"/>
            <a:ext cx="7699534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Three additional documentation types address emerging needs, from cross-functional workflows to specialized procedures and compliance requirements.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2233" y="2635448"/>
            <a:ext cx="76995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54405" y="3115151"/>
            <a:ext cx="22860" cy="4203621"/>
          </a:xfrm>
          <a:prstGeom prst="roundRect">
            <a:avLst>
              <a:gd name="adj" fmla="val 812540"/>
            </a:avLst>
          </a:prstGeom>
          <a:solidFill>
            <a:srgbClr val="E45000"/>
          </a:solidFill>
          <a:ln/>
        </p:spPr>
      </p:sp>
      <p:sp>
        <p:nvSpPr>
          <p:cNvPr id="7" name="Shape 4"/>
          <p:cNvSpPr/>
          <p:nvPr/>
        </p:nvSpPr>
        <p:spPr>
          <a:xfrm>
            <a:off x="1163717" y="3335893"/>
            <a:ext cx="619125" cy="22860"/>
          </a:xfrm>
          <a:prstGeom prst="roundRect">
            <a:avLst>
              <a:gd name="adj" fmla="val 812540"/>
            </a:avLst>
          </a:prstGeom>
          <a:solidFill>
            <a:srgbClr val="E45000"/>
          </a:solidFill>
          <a:ln/>
        </p:spPr>
      </p:sp>
      <p:sp>
        <p:nvSpPr>
          <p:cNvPr id="8" name="Shape 5"/>
          <p:cNvSpPr/>
          <p:nvPr/>
        </p:nvSpPr>
        <p:spPr>
          <a:xfrm>
            <a:off x="722233" y="3115151"/>
            <a:ext cx="464344" cy="464344"/>
          </a:xfrm>
          <a:prstGeom prst="roundRect">
            <a:avLst>
              <a:gd name="adj" fmla="val 40002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9438" y="3089374"/>
            <a:ext cx="429935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</a:t>
            </a:r>
            <a:endParaRPr lang="en-US" sz="3350" dirty="0"/>
          </a:p>
        </p:txBody>
      </p:sp>
      <p:sp>
        <p:nvSpPr>
          <p:cNvPr id="10" name="Text 7"/>
          <p:cNvSpPr/>
          <p:nvPr/>
        </p:nvSpPr>
        <p:spPr>
          <a:xfrm>
            <a:off x="1986320" y="3192542"/>
            <a:ext cx="5803702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Phase 1: Cross-Functional Workflows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986320" y="3746183"/>
            <a:ext cx="6435447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Documentation covering processes that span multiple departments, ensuring clarity on handoffs and dependencies.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63717" y="4874657"/>
            <a:ext cx="619125" cy="22860"/>
          </a:xfrm>
          <a:prstGeom prst="roundRect">
            <a:avLst>
              <a:gd name="adj" fmla="val 812540"/>
            </a:avLst>
          </a:prstGeom>
          <a:solidFill>
            <a:srgbClr val="E45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722233" y="4653915"/>
            <a:ext cx="464344" cy="464344"/>
          </a:xfrm>
          <a:prstGeom prst="roundRect">
            <a:avLst>
              <a:gd name="adj" fmla="val 40002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9438" y="4628138"/>
            <a:ext cx="429935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2</a:t>
            </a:r>
            <a:endParaRPr lang="en-US" sz="3350" dirty="0"/>
          </a:p>
        </p:txBody>
      </p:sp>
      <p:sp>
        <p:nvSpPr>
          <p:cNvPr id="15" name="Text 12"/>
          <p:cNvSpPr/>
          <p:nvPr/>
        </p:nvSpPr>
        <p:spPr>
          <a:xfrm>
            <a:off x="1986320" y="4731306"/>
            <a:ext cx="5109924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Phase 2: Specialized Procedures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986320" y="5284946"/>
            <a:ext cx="6435447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Technical documentation for advanced tasks, including detailed step-by-step instructions and troubleshooting guides.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63717" y="6413421"/>
            <a:ext cx="619125" cy="22860"/>
          </a:xfrm>
          <a:prstGeom prst="roundRect">
            <a:avLst>
              <a:gd name="adj" fmla="val 812540"/>
            </a:avLst>
          </a:prstGeom>
          <a:solidFill>
            <a:srgbClr val="E45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722233" y="6192679"/>
            <a:ext cx="464344" cy="464344"/>
          </a:xfrm>
          <a:prstGeom prst="roundRect">
            <a:avLst>
              <a:gd name="adj" fmla="val 40002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9438" y="6166902"/>
            <a:ext cx="429935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3</a:t>
            </a:r>
            <a:endParaRPr lang="en-US" sz="3350" dirty="0"/>
          </a:p>
        </p:txBody>
      </p:sp>
      <p:sp>
        <p:nvSpPr>
          <p:cNvPr id="20" name="Text 17"/>
          <p:cNvSpPr/>
          <p:nvPr/>
        </p:nvSpPr>
        <p:spPr>
          <a:xfrm>
            <a:off x="1986320" y="6270069"/>
            <a:ext cx="5045393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Phase 3: Compliance Guidelines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986320" y="6823710"/>
            <a:ext cx="6435447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Regulatory and compliance documentation ensuring adherence to industry standards and organizational policies.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1255276"/>
            <a:ext cx="8371761" cy="68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Change Management &amp; Adoption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722233" y="2355890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Launching through phased rollout to build user confidence and gather feedback. Goal: achieve 90% adoption across all teams.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2233" y="2835593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2233" y="3315295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31796" y="4620458"/>
            <a:ext cx="3947993" cy="206335"/>
          </a:xfrm>
          <a:prstGeom prst="roundRect">
            <a:avLst>
              <a:gd name="adj" fmla="val 90022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233" y="4414123"/>
            <a:ext cx="619125" cy="619125"/>
          </a:xfrm>
          <a:prstGeom prst="roundRect">
            <a:avLst>
              <a:gd name="adj" fmla="val 73846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014" y="4568904"/>
            <a:ext cx="309562" cy="3095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8568" y="5239583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Training Sessions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28568" y="5793224"/>
            <a:ext cx="384500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Hands-on workshops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95806" y="4310896"/>
            <a:ext cx="3948112" cy="206335"/>
          </a:xfrm>
          <a:prstGeom prst="roundRect">
            <a:avLst>
              <a:gd name="adj" fmla="val 90022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86243" y="4104561"/>
            <a:ext cx="619125" cy="619125"/>
          </a:xfrm>
          <a:prstGeom prst="roundRect">
            <a:avLst>
              <a:gd name="adj" fmla="val 73846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1025" y="4259342"/>
            <a:ext cx="309562" cy="30956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2579" y="4930021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Support Resources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5392579" y="5483662"/>
            <a:ext cx="3845123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Help desk and FAQs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959935" y="4001333"/>
            <a:ext cx="3947993" cy="206335"/>
          </a:xfrm>
          <a:prstGeom prst="roundRect">
            <a:avLst>
              <a:gd name="adj" fmla="val 90022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50373" y="3794998"/>
            <a:ext cx="619125" cy="619125"/>
          </a:xfrm>
          <a:prstGeom prst="roundRect">
            <a:avLst>
              <a:gd name="adj" fmla="val 73846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5154" y="3949779"/>
            <a:ext cx="309562" cy="30956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56708" y="4620458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Feedback Loop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9856708" y="5174099"/>
            <a:ext cx="384500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22233" y="6479262"/>
            <a:ext cx="13185934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Effective change management includes training, ongoing support, and continuous feedback mechanisms to ensure documentation meets evolving user needs.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640794"/>
            <a:ext cx="6091118" cy="730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47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Goals Summary</a:t>
            </a:r>
            <a:endParaRPr lang="en-US" sz="4750" dirty="0"/>
          </a:p>
        </p:txBody>
      </p:sp>
      <p:sp>
        <p:nvSpPr>
          <p:cNvPr id="4" name="Text 1"/>
          <p:cNvSpPr/>
          <p:nvPr/>
        </p:nvSpPr>
        <p:spPr>
          <a:xfrm>
            <a:off x="722233" y="1595318"/>
            <a:ext cx="76995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22233" y="1957626"/>
            <a:ext cx="76995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628" y="2319933"/>
            <a:ext cx="952738" cy="12843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23649" y="2980373"/>
            <a:ext cx="246578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3298746" y="2495312"/>
            <a:ext cx="312193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Documentation Growth</a:t>
            </a:r>
            <a:endParaRPr lang="en-US" sz="2350" dirty="0"/>
          </a:p>
        </p:txBody>
      </p:sp>
      <p:sp>
        <p:nvSpPr>
          <p:cNvPr id="9" name="Text 5"/>
          <p:cNvSpPr/>
          <p:nvPr/>
        </p:nvSpPr>
        <p:spPr>
          <a:xfrm>
            <a:off x="3298746" y="2950131"/>
            <a:ext cx="31219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50 → 77 documents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98746" y="3234214"/>
            <a:ext cx="31219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54% increase across all categories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167182" y="3616643"/>
            <a:ext cx="5210770" cy="11430"/>
          </a:xfrm>
          <a:prstGeom prst="roundRect">
            <a:avLst>
              <a:gd name="adj" fmla="val 1381320"/>
            </a:avLst>
          </a:prstGeom>
          <a:solidFill>
            <a:srgbClr val="FE6A0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259" y="3648075"/>
            <a:ext cx="1905595" cy="12843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23649" y="4142184"/>
            <a:ext cx="246578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3775234" y="3823454"/>
            <a:ext cx="3045500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New Categories</a:t>
            </a:r>
            <a:endParaRPr lang="en-US" sz="2350" dirty="0"/>
          </a:p>
        </p:txBody>
      </p:sp>
      <p:sp>
        <p:nvSpPr>
          <p:cNvPr id="15" name="Text 10"/>
          <p:cNvSpPr/>
          <p:nvPr/>
        </p:nvSpPr>
        <p:spPr>
          <a:xfrm>
            <a:off x="3775234" y="4278273"/>
            <a:ext cx="31147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 documentation types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775234" y="4562356"/>
            <a:ext cx="31147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Cross-functional, specialized, compliance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3643670" y="4944785"/>
            <a:ext cx="4734282" cy="11430"/>
          </a:xfrm>
          <a:prstGeom prst="roundRect">
            <a:avLst>
              <a:gd name="adj" fmla="val 1381320"/>
            </a:avLst>
          </a:prstGeom>
          <a:solidFill>
            <a:srgbClr val="FE6A0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890" y="4976217"/>
            <a:ext cx="2858333" cy="128432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523649" y="5470327"/>
            <a:ext cx="246578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4251603" y="5151596"/>
            <a:ext cx="2384822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Adoption Target</a:t>
            </a:r>
            <a:endParaRPr lang="en-US" sz="2350" dirty="0"/>
          </a:p>
        </p:txBody>
      </p:sp>
      <p:sp>
        <p:nvSpPr>
          <p:cNvPr id="21" name="Text 15"/>
          <p:cNvSpPr/>
          <p:nvPr/>
        </p:nvSpPr>
        <p:spPr>
          <a:xfrm>
            <a:off x="4251603" y="5606415"/>
            <a:ext cx="238482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90% usage rate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251603" y="5890498"/>
            <a:ext cx="238482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Organization-wide engagement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4120039" y="6272927"/>
            <a:ext cx="4257913" cy="11430"/>
          </a:xfrm>
          <a:prstGeom prst="roundRect">
            <a:avLst>
              <a:gd name="adj" fmla="val 1381320"/>
            </a:avLst>
          </a:prstGeom>
          <a:solidFill>
            <a:srgbClr val="FE6A0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402" y="6304359"/>
            <a:ext cx="3811191" cy="12843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523649" y="6798469"/>
            <a:ext cx="246578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4727972" y="6479738"/>
            <a:ext cx="2842022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Quality Standard</a:t>
            </a:r>
            <a:endParaRPr lang="en-US" sz="2350" dirty="0"/>
          </a:p>
        </p:txBody>
      </p:sp>
      <p:sp>
        <p:nvSpPr>
          <p:cNvPr id="27" name="Text 20"/>
          <p:cNvSpPr/>
          <p:nvPr/>
        </p:nvSpPr>
        <p:spPr>
          <a:xfrm>
            <a:off x="4727972" y="6934557"/>
            <a:ext cx="284202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80%+ satisfaction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27972" y="7218640"/>
            <a:ext cx="284202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Maintaining high user approval ratings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2026-04-10T21:52:06Z</dcterms:created>
  <dcterms:modified xsi:type="dcterms:W3CDTF">2026-04-10T21:52:06Z</dcterms:modified>
</cp:coreProperties>
</file>