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583690987124463"/>
          <c:w val="0.9114583333333334"/>
          <c:h val="0.716738197424892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6AD8"/>
            </a:solidFill>
            <a:ln w="25400">
              <a:solidFill>
                <a:srgbClr val="006AD8"/>
              </a:solidFill>
            </a:ln>
          </c:spPr>
          <c:marker>
            <c:symbol val="circle"/>
            <c:size val="5"/>
            <c:spPr>
              <a:solidFill>
                <a:srgbClr val="006AD8"/>
              </a:solidFill>
              <a:ln>
                <a:solidFill>
                  <a:srgbClr val="006AD8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</c:strCache>
            </c:strRef>
          </c:cat>
          <c:val>
            <c:numRef>
              <c:f>Sheet1!$B$2:$B$5</c:f>
              <c:numCache>
                <c:formatCode>0.######</c:formatCode>
                <c:ptCount val="4"/>
                <c:pt idx="0">
                  <c:v>120.0</c:v>
                </c:pt>
                <c:pt idx="1">
                  <c:v>138.0</c:v>
                </c:pt>
                <c:pt idx="2">
                  <c:v>150.0</c:v>
                </c:pt>
                <c:pt idx="3">
                  <c:v>168.0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Месяц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Выручка,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18791784"/>
        <c:crosses val="autoZero"/>
        <c:majorUnit val="50.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583690987124463"/>
          <c:w val="0.9114583333333334"/>
          <c:h val="0.716738197424892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Продукт A</c:v>
                </c:pt>
                <c:pt idx="1">
                  <c:v>Продукт B</c:v>
                </c:pt>
                <c:pt idx="2">
                  <c:v>Продукт C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120.0</c:v>
                </c:pt>
                <c:pt idx="1">
                  <c:v>90.0</c:v>
                </c:pt>
                <c:pt idx="2">
                  <c:v>60.0</c:v>
                </c:pt>
              </c:numCache>
            </c:numRef>
          </c:val>
        </c:ser>
        <c:gapWidth val="5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Продукт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Продажи, шт.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0.0"/>
      </c:valAx>
    </c:plotArea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583690987124463"/>
          <c:w val="0.9114583333333334"/>
          <c:h val="0.716738197424892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Частота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Sheet1!$A$2:$A$5</c:f>
              <c:strCache>
                <c:ptCount val="4"/>
                <c:pt idx="0">
                  <c:v>[0; 10)</c:v>
                </c:pt>
                <c:pt idx="1">
                  <c:v>[10; 20)</c:v>
                </c:pt>
                <c:pt idx="2">
                  <c:v>[20; 30)</c:v>
                </c:pt>
                <c:pt idx="3">
                  <c:v>[30; 40]</c:v>
                </c:pt>
              </c:strCache>
            </c:strRef>
          </c:cat>
          <c:val>
            <c:numRef>
              <c:f>Sheet1!$B$2:$B$5</c:f>
              <c:numCache>
                <c:formatCode>0.######</c:formatCode>
                <c:ptCount val="4"/>
                <c:pt idx="0">
                  <c:v>6.0</c:v>
                </c:pt>
                <c:pt idx="1">
                  <c:v>14.0</c:v>
                </c:pt>
                <c:pt idx="2">
                  <c:v>9.0</c:v>
                </c:pt>
                <c:pt idx="3">
                  <c:v>3.0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Интервал значения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Частота, наблюдений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.0"/>
      </c:valAx>
    </c:plotArea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6AD8"/>
              </a:solidFill>
              <a:ln>
                <a:noFill/>
              </a:ln>
            </c:spPr>
          </c:dPt>
          <c:dPt>
            <c:idx val="1"/>
            <c:spPr>
              <a:solidFill>
                <a:srgbClr val="09876D"/>
              </a:solidFill>
              <a:ln>
                <a:noFill/>
              </a:ln>
            </c:spPr>
          </c:dPt>
          <c:dPt>
            <c:idx val="2"/>
            <c:spPr>
              <a:solidFill>
                <a:srgbClr val="7C58AD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Прямые</c:v>
                </c:pt>
                <c:pt idx="1">
                  <c:v>Партнёры</c:v>
                </c:pt>
                <c:pt idx="2">
                  <c:v>Маркетплейсы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50.0</c:v>
                </c:pt>
                <c:pt idx="1">
                  <c:v>30.0</c:v>
                </c:pt>
                <c:pt idx="2">
                  <c:v>20.0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99">
                  <a:solidFill>
                    <a:srgbClr val="142A45"/>
                  </a:solidFill>
                  <a:latin typeface="Manrop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Заявки</c:v>
                </c:pt>
              </c:strCache>
            </c:strRef>
          </c:tx>
          <c:spPr>
            <a:solidFill>
              <a:srgbClr val="006AD8"/>
            </a:solidFill>
            <a:ln w="47625">
              <a:solidFill>
                <a:srgbClr val="006AD8"/>
              </a:solidFill>
            </a:ln>
          </c:spPr>
          <c:marker>
            <c:symbol val="circle"/>
            <c:size val="5"/>
            <c:spPr>
              <a:solidFill>
                <a:srgbClr val="006AD8"/>
              </a:solidFill>
              <a:ln>
                <a:solidFill>
                  <a:srgbClr val="006AD8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3.0</c:v>
                </c:pt>
                <c:pt idx="2">
                  <c:v>5.0</c:v>
                </c:pt>
                <c:pt idx="3">
                  <c:v>6.0</c:v>
                </c:pt>
                <c:pt idx="4">
                  <c:v>8.0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6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Вложения,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Заявки, тыс.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1630901287553648"/>
          <c:w val="0.9114583333333334"/>
          <c:h val="0.639484978540772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90.0</c:v>
                </c:pt>
                <c:pt idx="1">
                  <c:v>110.0</c:v>
                </c:pt>
                <c:pt idx="2">
                  <c:v>130.0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09876D"/>
            </a:solidFill>
            <a:ln>
              <a:solidFill>
                <a:srgbClr val="09876D"/>
              </a:solidFill>
            </a:ln>
          </c:spPr>
          <c:cat>
            <c:strRef>
              <c:f>Sheet1!$A$2:$A$4</c:f>
              <c:strCache>
                <c:ptCount val="3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</c:strCache>
            </c:strRef>
          </c:cat>
          <c:val>
            <c:numRef>
              <c:f>Sheet1!$C$2:$C$4</c:f>
              <c:numCache>
                <c:formatCode>0.######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120.0</c:v>
                </c:pt>
              </c:numCache>
            </c:numRef>
          </c:val>
        </c:ser>
        <c:gapWidth val="5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Квартал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Выручка,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0.0"/>
      </c:valAx>
    </c:plotArea>
    <c:legend>
      <c:legendPos val="t"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1630901287553648"/>
          <c:w val="0.9114583333333334"/>
          <c:h val="0.6394849785407726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Новые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20.0</c:v>
                </c:pt>
                <c:pt idx="1">
                  <c:v>25.0</c:v>
                </c:pt>
                <c:pt idx="2">
                  <c:v>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Повторные</c:v>
                </c:pt>
              </c:strCache>
            </c:strRef>
          </c:tx>
          <c:spPr>
            <a:solidFill>
              <a:srgbClr val="09876D"/>
            </a:solidFill>
            <a:ln>
              <a:solidFill>
                <a:srgbClr val="09876D"/>
              </a:solidFill>
            </a:ln>
          </c:spPr>
          <c:cat>
            <c:strRef>
              <c:f>Sheet1!$A$2:$A$4</c:f>
              <c:strCache>
                <c:ptCount val="3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</c:strCache>
            </c:strRef>
          </c:cat>
          <c:val>
            <c:numRef>
              <c:f>Sheet1!$C$2:$C$4</c:f>
              <c:numCache>
                <c:formatCode>0.######</c:formatCode>
                <c:ptCount val="3"/>
                <c:pt idx="0">
                  <c:v>30.0</c:v>
                </c:pt>
                <c:pt idx="1">
                  <c:v>35.0</c:v>
                </c:pt>
                <c:pt idx="2">
                  <c:v>50.0</c:v>
                </c:pt>
              </c:numCache>
            </c:numRef>
          </c:val>
        </c:ser>
        <c:gapWidth val="54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Месяц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Заказы, шт.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Выручка выросла со 120 до 168 млн руб.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Выручка выросла на 40% с января по апрель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Продукт A: 120 продаж — больше других категорий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Чаще всего встречаются значения от 10 до 20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Прямые продажи дают половину объёма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"direct_share", "operation": "share", "fields": [], "result": 50.0, "unit": "%", "baseline": 100.0, "comparison": 50.0, "rows_used": 3, "rows_excluded": 0, "description": ""}]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Больше вложений связано с большим числом заявок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"correlation", "operation": "pearson_correlation", "fields": [], "result": 0.9689627902499088, "unit": "", "baseline": null, "comparison": null, "rows_used": 5, "rows_excluded": 0, "description": "Корреляция полных пар X и Y"}]</a:t>
            </a:r>
          </a:p>
          <a:p>
            <a:r>
              <a:t>Ограничения: Связь не доказывает причинность; наблюдений только пять.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 III квартале факт выше плана на 10 млн руб.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"gap", "operation": "absolute_change", "fields": [], "result": 10.0, "unit": "млн руб.", "baseline": 120.0, "comparison": 130.0, "rows_used": 2, "rows_excluded": 0, "description": ""}]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Повторные заказы: 50 из 80 в марте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За четыре месяца получено 576 млн руб. выручки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Выручка выросла со 120 до 168 млн руб.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9"/>
                <a:gridCol w="5486400"/>
              </a:tblGrid>
              <a:tr h="887729">
                <a:tc>
                  <a:txBody>
                    <a:bodyPr/>
                    <a:lstStyle/>
                    <a:p>
                      <a:pPr>
                        <a:defRPr sz="1349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Месяц</a:t>
                      </a:r>
                    </a:p>
                  </a:txBody>
                  <a:tcPr>
                    <a:solidFill>
                      <a:srgbClr val="006A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Выручка, млн руб.</a:t>
                      </a:r>
                    </a:p>
                  </a:txBody>
                  <a:tcPr>
                    <a:solidFill>
                      <a:srgbClr val="006AD8"/>
                    </a:solidFill>
                  </a:tcPr>
                </a:tc>
              </a:tr>
              <a:tr h="88772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Январь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772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Февраль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88772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Март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7733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Апрель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Выручка выросла на 40% с января по апрель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1783556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Январь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4283868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Февраль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6784180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Март</a:t>
            </a:r>
          </a:p>
        </p:txBody>
      </p:sp>
      <p:sp>
        <p:nvSpPr>
          <p:cNvPr id="8" name="analysis-category-3"/>
          <p:cNvSpPr txBox="1"/>
          <p:nvPr/>
        </p:nvSpPr>
        <p:spPr>
          <a:xfrm>
            <a:off x="9284492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Апрель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Продукт A: 120 продаж — больше других категорий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2200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A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55340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B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88677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Чаще всего встречаются значения от 10 до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1783556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[0; 10)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4283868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[10; 20)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6784180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[20; 30)</a:t>
            </a:r>
          </a:p>
        </p:txBody>
      </p:sp>
      <p:sp>
        <p:nvSpPr>
          <p:cNvPr id="8" name="analysis-category-3"/>
          <p:cNvSpPr txBox="1"/>
          <p:nvPr/>
        </p:nvSpPr>
        <p:spPr>
          <a:xfrm>
            <a:off x="9284492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[30; 40]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04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Прямые продажи дают половину объёма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Больше вложений связано с большим числом заявок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В III квартале факт выше плана на 10 млн руб.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2200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 квартал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55340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II квартал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88677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III квартал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07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Повторные заказы: 50 из 80 в марте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99" y="1657349"/>
          <a:ext cx="10972799" cy="44386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2200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Январь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55340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Февраль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88677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Март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723899"/>
            <a:ext cx="10972799" cy="876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994" b="1">
                <a:solidFill>
                  <a:srgbClr val="142A45"/>
                </a:solidFill>
                <a:latin typeface="Manrope"/>
              </a:defRPr>
            </a:pPr>
            <a:r>
              <a:t>За четыре месяца получено 576 млн руб. выручки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99" y="609599"/>
            <a:ext cx="10972799" cy="190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99" y="1657349"/>
            <a:ext cx="38099" cy="44386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99" y="1733549"/>
            <a:ext cx="3219449" cy="1109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Выручка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99" y="2988944"/>
            <a:ext cx="3219449" cy="159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4349" b="1">
                <a:solidFill>
                  <a:srgbClr val="006AD8"/>
                </a:solidFill>
                <a:latin typeface="Manrope"/>
              </a:defRPr>
            </a:pPr>
            <a:r>
              <a:t>576 млн руб.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99" y="4853177"/>
            <a:ext cx="3219449" cy="1109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Сумма · Январь–апрель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399" y="1657349"/>
            <a:ext cx="38099" cy="44386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899" y="1733549"/>
            <a:ext cx="3219449" cy="1109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Среднее за месяц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899" y="2988944"/>
            <a:ext cx="3219449" cy="159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4349" b="1">
                <a:solidFill>
                  <a:srgbClr val="006AD8"/>
                </a:solidFill>
                <a:latin typeface="Manrope"/>
              </a:defRPr>
            </a:pPr>
            <a:r>
              <a:t>144 млн руб.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899" y="4853177"/>
            <a:ext cx="3219449" cy="1109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Среднее · Январь–апрель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199" y="1657349"/>
            <a:ext cx="38099" cy="44386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699" y="1733549"/>
            <a:ext cx="3219449" cy="1109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Изменение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699" y="2988944"/>
            <a:ext cx="3219449" cy="15979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4349" b="1">
                <a:solidFill>
                  <a:srgbClr val="006AD8"/>
                </a:solidFill>
                <a:latin typeface="Manrope"/>
              </a:defRPr>
            </a:pPr>
            <a:r>
              <a:t>40 %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699" y="4853177"/>
            <a:ext cx="3219449" cy="11096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Относительное изменение · Апрель к январю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09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