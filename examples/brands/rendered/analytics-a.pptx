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888888888888889"/>
          <c:w val="0.9114583333333334"/>
          <c:h val="0.706666666666666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6AD8"/>
            </a:solidFill>
            <a:ln w="25400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120.0</c:v>
                </c:pt>
                <c:pt idx="1">
                  <c:v>138.0</c:v>
                </c:pt>
                <c:pt idx="2">
                  <c:v>150.0</c:v>
                </c:pt>
                <c:pt idx="3">
                  <c:v>168.0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888888888888889"/>
          <c:w val="0.9114583333333334"/>
          <c:h val="0.706666666666666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Продукт A</c:v>
                </c:pt>
                <c:pt idx="1">
                  <c:v>Продукт B</c:v>
                </c:pt>
                <c:pt idx="2">
                  <c:v>Продукт C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120.0</c:v>
                </c:pt>
                <c:pt idx="1">
                  <c:v>90.0</c:v>
                </c:pt>
                <c:pt idx="2">
                  <c:v>60.0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Продукт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Продажи,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888888888888889"/>
          <c:w val="0.9114583333333334"/>
          <c:h val="0.706666666666666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Частота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Sheet1!$A$2:$A$5</c:f>
              <c:strCache>
                <c:ptCount val="4"/>
                <c:pt idx="0">
                  <c:v>[0; 10)</c:v>
                </c:pt>
                <c:pt idx="1">
                  <c:v>[10; 20)</c:v>
                </c:pt>
                <c:pt idx="2">
                  <c:v>[20; 30)</c:v>
                </c:pt>
                <c:pt idx="3">
                  <c:v>[30; 40]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6.0</c:v>
                </c:pt>
                <c:pt idx="1">
                  <c:v>14.0</c:v>
                </c:pt>
                <c:pt idx="2">
                  <c:v>9.0</c:v>
                </c:pt>
                <c:pt idx="3">
                  <c:v>3.0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Интервал значения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Частота, наблюдений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6AD8"/>
              </a:solidFill>
              <a:ln>
                <a:noFill/>
              </a:ln>
            </c:spPr>
          </c:dPt>
          <c:dPt>
            <c:idx val="1"/>
            <c:spPr>
              <a:solidFill>
                <a:srgbClr val="09876D"/>
              </a:solidFill>
              <a:ln>
                <a:noFill/>
              </a:ln>
            </c:spPr>
          </c:dPt>
          <c:dPt>
            <c:idx val="2"/>
            <c:spPr>
              <a:solidFill>
                <a:srgbClr val="7C58AD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Прямые</c:v>
                </c:pt>
                <c:pt idx="1">
                  <c:v>Партнёры</c:v>
                </c:pt>
                <c:pt idx="2">
                  <c:v>Маркетплейсы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50.0</c:v>
                </c:pt>
                <c:pt idx="1">
                  <c:v>30.0</c:v>
                </c:pt>
                <c:pt idx="2">
                  <c:v>20.0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99">
                  <a:solidFill>
                    <a:srgbClr val="142A45"/>
                  </a:solidFill>
                  <a:latin typeface="Manrop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solidFill>
              <a:srgbClr val="006AD8"/>
            </a:solidFill>
            <a:ln w="47625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3.0</c:v>
                </c:pt>
                <c:pt idx="2">
                  <c:v>5.0</c:v>
                </c:pt>
                <c:pt idx="3">
                  <c:v>6.0</c:v>
                </c:pt>
                <c:pt idx="4">
                  <c:v>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Вложения,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Заявки, тыс.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1688888888888889"/>
          <c:w val="0.9114583333333334"/>
          <c:h val="0.626666666666666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90.0</c:v>
                </c:pt>
                <c:pt idx="1">
                  <c:v>110.0</c:v>
                </c:pt>
                <c:pt idx="2">
                  <c:v>130.0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120.0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Квартал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1688888888888889"/>
          <c:w val="0.9114583333333334"/>
          <c:h val="0.6266666666666667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Новые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20.0</c:v>
                </c:pt>
                <c:pt idx="1">
                  <c:v>25.0</c:v>
                </c:pt>
                <c:pt idx="2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Повторные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30.0</c:v>
                </c:pt>
                <c:pt idx="1">
                  <c:v>35.0</c:v>
                </c:pt>
                <c:pt idx="2">
                  <c:v>50.0</c:v>
                </c:pt>
              </c:numCache>
            </c:numRef>
          </c:val>
        </c:ser>
        <c:gapWidth val="54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Заказы,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со 120 до 168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на 40% с января по апрель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Продукт A: 120 продаж — больше других категорий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Чаще всего встречаются значения от 10 до 20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Прямые продажи дают половину объёма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"direct_share", "operation": "share", "fields": [], "result": 50.0, "unit": "%", "baseline": 100.0, "comparison": 50.0, "rows_used": 3,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Больше вложений связано с большим числом заявок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"correlation", "operation": "pearson_correlation", "fields": [], "result": 0.9689627902499088, "unit": "", "baseline": null, "comparison": null, "rows_used": 5, "rows_excluded": 0, "description": "Корреляция полных пар X и Y"}]</a:t>
            </a:r>
          </a:p>
          <a:p>
            <a:r>
              <a:t>Ограничения: Связь не доказывает причинность; наблюдений только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 III квартале факт выше плана на 10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"gap", "operation": "absolute_change", "fields": [], "result": 10.0, "unit": "млн руб.", "baseline": 120.0, "comparison": 130.0, "rows_used": 2,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Повторные заказы: 50 из 80 в марте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За четыре месяца получено 576 млн руб. выручки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Выручка выросла со 120 до 168 млн руб.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9"/>
                <a:gridCol w="5486400"/>
              </a:tblGrid>
              <a:tr h="857249"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Месяц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Выручка, млн руб.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</a:tr>
              <a:tr h="85724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Январь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724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Февраль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85724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Март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7253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Апрель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Выручка выросла на 40% с января по апрель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1783556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4283868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6784180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7" name="analysis-category-3"/>
          <p:cNvSpPr txBox="1"/>
          <p:nvPr/>
        </p:nvSpPr>
        <p:spPr>
          <a:xfrm>
            <a:off x="9284492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Апрель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Продукт A: 120 продаж — больше других категорий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A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B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Чаще всего встречаются значения от 10 до 20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1783556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[0; 10)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4283868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[10; 20)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6784180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[20; 30)</a:t>
            </a:r>
          </a:p>
        </p:txBody>
      </p:sp>
      <p:sp>
        <p:nvSpPr>
          <p:cNvPr id="7" name="analysis-category-3"/>
          <p:cNvSpPr txBox="1"/>
          <p:nvPr/>
        </p:nvSpPr>
        <p:spPr>
          <a:xfrm>
            <a:off x="9284492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[30; 40]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Прямые продажи дают половину объёма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Больше вложений связано с большим числом заявок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В III квартале факт выше плана на 10 млн руб.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 квартал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 квартал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III квартал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Повторные заказы: 50 из 80 в марте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За четыре месяца получено 576 млн руб. выручки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1809749"/>
            <a:ext cx="38099" cy="42862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99" y="18859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Выручка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99" y="3095624"/>
            <a:ext cx="3219449" cy="15430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576 млн руб.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99" y="48958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Сумма · Январь–апрель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399" y="1809749"/>
            <a:ext cx="38099" cy="42862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3899" y="18859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Среднее за месяц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3899" y="3095624"/>
            <a:ext cx="3219449" cy="15430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144 млн руб.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899" y="48958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Среднее · Январь–апрель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7199" y="1809749"/>
            <a:ext cx="38099" cy="42862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699" y="18859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Изменение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699" y="3095624"/>
            <a:ext cx="3219449" cy="15430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40 %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699" y="4895849"/>
            <a:ext cx="3219449" cy="107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Относительное изменение · Апрель к январю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09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