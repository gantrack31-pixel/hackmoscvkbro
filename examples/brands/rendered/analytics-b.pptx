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25"/>
          <c:y val="0.07092198581560284"/>
          <c:w val="0.8725"/>
          <c:h val="0.765957446808510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6AD8"/>
            </a:solidFill>
            <a:ln w="25400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  <c:pt idx="3">
                  <c:v>Апрель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120.0</c:v>
                </c:pt>
                <c:pt idx="1">
                  <c:v>138.0</c:v>
                </c:pt>
                <c:pt idx="2">
                  <c:v>150.0</c:v>
                </c:pt>
                <c:pt idx="3">
                  <c:v>168.0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20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2118791784"/>
        <c:crosses val="autoZero"/>
        <c:majorUnit val="50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25"/>
          <c:y val="0.07092198581560284"/>
          <c:w val="0.8725"/>
          <c:h val="0.765957446808510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Продажи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Продукт A</c:v>
                </c:pt>
                <c:pt idx="1">
                  <c:v>Продукт B</c:v>
                </c:pt>
                <c:pt idx="2">
                  <c:v>Продукт C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120.0</c:v>
                </c:pt>
                <c:pt idx="1">
                  <c:v>90.0</c:v>
                </c:pt>
                <c:pt idx="2">
                  <c:v>60.0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Продукт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Продажи,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25"/>
          <c:y val="0.07092198581560284"/>
          <c:w val="0.8725"/>
          <c:h val="0.7659574468085106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Частота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Sheet1!$A$2:$A$5</c:f>
              <c:strCache>
                <c:ptCount val="4"/>
                <c:pt idx="0">
                  <c:v>[0; 10)</c:v>
                </c:pt>
                <c:pt idx="1">
                  <c:v>[10; 20)</c:v>
                </c:pt>
                <c:pt idx="2">
                  <c:v>[20; 30)</c:v>
                </c:pt>
                <c:pt idx="3">
                  <c:v>[30; 40]</c:v>
                </c:pt>
              </c:strCache>
            </c:strRef>
          </c:cat>
          <c:val>
            <c:numRef>
              <c:f>Sheet1!$B$2:$B$5</c:f>
              <c:numCache>
                <c:formatCode>0.######</c:formatCode>
                <c:ptCount val="4"/>
                <c:pt idx="0">
                  <c:v>6.0</c:v>
                </c:pt>
                <c:pt idx="1">
                  <c:v>14.0</c:v>
                </c:pt>
                <c:pt idx="2">
                  <c:v>9.0</c:v>
                </c:pt>
                <c:pt idx="3">
                  <c:v>3.0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Интервал значения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Частота, наблюдений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.0"/>
      </c:valAx>
    </c:plotArea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Доля</c:v>
                </c:pt>
              </c:strCache>
            </c:strRef>
          </c:tx>
          <c:dPt>
            <c:idx val="0"/>
            <c:spPr>
              <a:solidFill>
                <a:srgbClr val="006AD8"/>
              </a:solidFill>
              <a:ln>
                <a:noFill/>
              </a:ln>
            </c:spPr>
          </c:dPt>
          <c:dPt>
            <c:idx val="1"/>
            <c:spPr>
              <a:solidFill>
                <a:srgbClr val="09876D"/>
              </a:solidFill>
              <a:ln>
                <a:noFill/>
              </a:ln>
            </c:spPr>
          </c:dPt>
          <c:dPt>
            <c:idx val="2"/>
            <c:spPr>
              <a:solidFill>
                <a:srgbClr val="7C58AD"/>
              </a:solidFill>
              <a:ln>
                <a:noFill/>
              </a:ln>
            </c:spPr>
          </c:dPt>
          <c:cat>
            <c:strRef>
              <c:f>Sheet1!$A$2:$A$4</c:f>
              <c:strCache>
                <c:ptCount val="3"/>
                <c:pt idx="0">
                  <c:v>Прямые</c:v>
                </c:pt>
                <c:pt idx="1">
                  <c:v>Партнёры</c:v>
                </c:pt>
                <c:pt idx="2">
                  <c:v>Маркетплейсы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50.0</c:v>
                </c:pt>
                <c:pt idx="1">
                  <c:v>30.0</c:v>
                </c:pt>
                <c:pt idx="2">
                  <c:v>20.0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199">
                  <a:solidFill>
                    <a:srgbClr val="142A45"/>
                  </a:solidFill>
                  <a:latin typeface="Manrope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Заявки</c:v>
                </c:pt>
              </c:strCache>
            </c:strRef>
          </c:tx>
          <c:spPr>
            <a:solidFill>
              <a:srgbClr val="006AD8"/>
            </a:solidFill>
            <a:ln w="47625">
              <a:solidFill>
                <a:srgbClr val="006AD8"/>
              </a:solidFill>
            </a:ln>
          </c:spPr>
          <c:marker>
            <c:symbol val="circle"/>
            <c:size val="5"/>
            <c:spPr>
              <a:solidFill>
                <a:srgbClr val="006AD8"/>
              </a:solidFill>
              <a:ln>
                <a:solidFill>
                  <a:srgbClr val="006AD8"/>
                </a:solidFill>
              </a:ln>
            </c:spPr>
          </c:marker>
          <c:xVal>
            <c:numRef>
              <c:f>Sheet1!$A$2:$A$6</c:f>
              <c:numCache>
                <c:formatCode>General</c:formatCode>
                <c:ptCount val="5"/>
                <c:pt idx="0">
                  <c:v>1.0</c:v>
                </c:pt>
                <c:pt idx="1">
                  <c:v>2.0</c:v>
                </c:pt>
                <c:pt idx="2">
                  <c:v>3.0</c:v>
                </c:pt>
                <c:pt idx="3">
                  <c:v>4.0</c:v>
                </c:pt>
                <c:pt idx="4">
                  <c:v>5.0</c:v>
                </c:pt>
              </c:numCache>
            </c:numRef>
          </c:xVal>
          <c:yVal>
            <c:numRef>
              <c:f>Sheet1!$B$2:$B$6</c:f>
              <c:numCache>
                <c:formatCode>General</c:formatCode>
                <c:ptCount val="5"/>
                <c:pt idx="0">
                  <c:v>3.0</c:v>
                </c:pt>
                <c:pt idx="1">
                  <c:v>3.0</c:v>
                </c:pt>
                <c:pt idx="2">
                  <c:v>5.0</c:v>
                </c:pt>
                <c:pt idx="3">
                  <c:v>6.0</c:v>
                </c:pt>
                <c:pt idx="4">
                  <c:v>8.0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6.0"/>
          <c:min val="0.0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Вложения,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9643912"/>
        <c:crosses val="autoZero"/>
        <c:crossBetween val="midCat"/>
        <c:majorUnit val="2.0"/>
      </c:valAx>
      <c:valAx>
        <c:axId val="-2129643912"/>
        <c:scaling>
          <c:orientation val="minMax"/>
          <c:max val="8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Заявки, тыс.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28940872"/>
        <c:crosses val="autoZero"/>
        <c:crossBetween val="midCat"/>
        <c:majorUnit val="2.0"/>
      </c:valAx>
    </c:plotArea>
    <c:plotVisOnly val="1"/>
    <c:dispBlanksAs val="gap"/>
    <c:showDLblsOverMax val="0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25"/>
          <c:y val="0.1347517730496454"/>
          <c:w val="0.8725"/>
          <c:h val="0.7021276595744681"/>
        </c:manualLayout>
      </c:layout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Факт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90.0</c:v>
                </c:pt>
                <c:pt idx="1">
                  <c:v>110.0</c:v>
                </c:pt>
                <c:pt idx="2">
                  <c:v>130.0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План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I квартал</c:v>
                </c:pt>
                <c:pt idx="1">
                  <c:v>II квартал</c:v>
                </c:pt>
                <c:pt idx="2">
                  <c:v>III квартал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100.0</c:v>
                </c:pt>
                <c:pt idx="1">
                  <c:v>100.0</c:v>
                </c:pt>
                <c:pt idx="2">
                  <c:v>120.0</c:v>
                </c:pt>
              </c:numCache>
            </c:numRef>
          </c:val>
        </c:ser>
        <c:gapWidth val="54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Квартал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5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Выручка, млн руб.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5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factor"/>
          <c:yMode val="factor"/>
          <c:wMode val="factor"/>
          <c:hMode val="factor"/>
          <c:x val="0.1025"/>
          <c:y val="0.1347517730496454"/>
          <c:w val="0.8725"/>
          <c:h val="0.702127659574468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Новые</c:v>
                </c:pt>
              </c:strCache>
            </c:strRef>
          </c:tx>
          <c:spPr>
            <a:solidFill>
              <a:srgbClr val="006AD8"/>
            </a:solidFill>
            <a:ln>
              <a:solidFill>
                <a:srgbClr val="006AD8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Sheet1!$B$2:$B$4</c:f>
              <c:numCache>
                <c:formatCode>0.######</c:formatCode>
                <c:ptCount val="3"/>
                <c:pt idx="0">
                  <c:v>20.0</c:v>
                </c:pt>
                <c:pt idx="1">
                  <c:v>25.0</c:v>
                </c:pt>
                <c:pt idx="2">
                  <c:v>30.0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Повторные</c:v>
                </c:pt>
              </c:strCache>
            </c:strRef>
          </c:tx>
          <c:spPr>
            <a:solidFill>
              <a:srgbClr val="09876D"/>
            </a:solidFill>
            <a:ln>
              <a:solidFill>
                <a:srgbClr val="09876D"/>
              </a:solidFill>
            </a:ln>
          </c:spPr>
          <c:cat>
            <c:strRef>
              <c:f>Sheet1!$A$2:$A$4</c:f>
              <c:strCache>
                <c:ptCount val="3"/>
                <c:pt idx="0">
                  <c:v>Январь</c:v>
                </c:pt>
                <c:pt idx="1">
                  <c:v>Февраль</c:v>
                </c:pt>
                <c:pt idx="2">
                  <c:v>Март</c:v>
                </c:pt>
              </c:strCache>
            </c:strRef>
          </c:cat>
          <c:val>
            <c:numRef>
              <c:f>Sheet1!$C$2:$C$4</c:f>
              <c:numCache>
                <c:formatCode>0.######</c:formatCode>
                <c:ptCount val="3"/>
                <c:pt idx="0">
                  <c:v>30.0</c:v>
                </c:pt>
                <c:pt idx="1">
                  <c:v>35.0</c:v>
                </c:pt>
                <c:pt idx="2">
                  <c:v>50.0</c:v>
                </c:pt>
              </c:numCache>
            </c:numRef>
          </c:val>
        </c:ser>
        <c:gapWidth val="54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Месяц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one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0.0"/>
          <c:min val="0.0"/>
        </c:scaling>
        <c:delete val="0"/>
        <c:axPos val="l"/>
        <c:majorGridlines>
          <c:spPr>
            <a:ln>
              <a:solidFill>
                <a:srgbClr val="D0D4DA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199">
                    <a:solidFill>
                      <a:srgbClr val="142A45"/>
                    </a:solidFill>
                    <a:latin typeface="Manrope"/>
                  </a:defRPr>
                </a:pPr>
                <a:r>
                  <a:t>Заказы, шт.</a:t>
                </a:r>
              </a:p>
            </c:rich>
          </c:tx>
          <c:layout/>
          <c:overlay val="0"/>
        </c:title>
        <c:numFmt formatCode="0.######" sourceLinked="0"/>
        <c:majorTickMark val="none"/>
        <c:minorTickMark val="none"/>
        <c:tickLblPos val="nextTo"/>
        <c:spPr>
          <a:ln>
            <a:solidFill>
              <a:srgbClr val="D0D4DA"/>
            </a:solidFill>
          </a:ln>
        </c:spPr>
        <c:txPr>
          <a:bodyPr/>
          <a:lstStyle/>
          <a:p>
            <a:pPr>
              <a:defRPr sz="1199">
                <a:solidFill>
                  <a:srgbClr val="142A45"/>
                </a:solidFill>
                <a:latin typeface="Manrope"/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274">
              <a:solidFill>
                <a:srgbClr val="142A45"/>
              </a:solidFill>
              <a:latin typeface="Manrope"/>
            </a:defRPr>
          </a:pPr>
        </a:p>
      </c:txPr>
    </c:legend>
    <c:dispBlanksAs val="gap"/>
  </c:chart>
  <c:spPr>
    <a:solidFill>
      <a:srgbClr val="FFFFFF"/>
    </a:solidFill>
    <a:ln>
      <a:noFill/>
    </a:ln>
  </c:spPr>
  <c:txPr>
    <a:bodyPr/>
    <a:lstStyle/>
    <a:p>
      <a:pPr>
        <a:defRPr sz="1274">
          <a:solidFill>
            <a:srgbClr val="142A45"/>
          </a:solidFill>
          <a:latin typeface="Manrope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со 120 до 168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Выручка выросла на 40% с января по апрель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Продукт A: 120 продаж — больше других категорий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Чаще всего встречаются значения от 10 до 20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Прямые продажи дают половину объёма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"direct_share", "operation": "share", "fields": [], "result": 50.0, "unit": "%", "baseline": 100.0, "comparison": 50.0, "rows_used": 3,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Больше вложений связано с большим числом заявок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"correlation", "operation": "pearson_correlation", "fields": [], "result": 0.9689627902499088, "unit": "", "baseline": null, "comparison": null, "rows_used": 5, "rows_excluded": 0, "description": "Корреляция полных пар X и Y"}]</a:t>
            </a:r>
          </a:p>
          <a:p>
            <a:r>
              <a:t>Ограничения: Связь не доказывает причинность; наблюдений только пять.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В III квартале факт выше плана на 10 млн руб.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"gap", "operation": "absolute_change", "fields": [], "result": 10.0, "unit": "млн руб.", "baseline": 120.0, "comparison": 130.0, "rows_used": 2, "rows_excluded": 0, "description": ""}]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Повторные заказы: 50 из 80 в марте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  <a:p>
            <a:r>
              <a:t>Источник данных: Синтетический набор North, 2026</a:t>
            </a:r>
          </a:p>
          <a:p>
            <a:r>
              <a:t>Вопрос: За четыре месяца получено 576 млн руб. выручки</a:t>
            </a:r>
          </a:p>
          <a:p>
            <a:r>
              <a:t>Почему эта диаграмма: Представление выбрано по структуре и смыслу данного синтетического набора.</a:t>
            </a:r>
          </a:p>
          <a:p>
            <a:r>
              <a:t>Расчёты: [{"id": "revenue_growth", "operation": "relative_change", "fields": ["Выручка"], "result": 40.0, "unit": "%", "baseline": 120.0, "comparison": 168.0, "rows_used": 4, "rows_excluded": 0, "description": "(168 − 120) / 120 × 100"}]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Relationship Id="rId3" Type="http://schemas.openxmlformats.org/officeDocument/2006/relationships/image" Target="../media/image1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Выручка выросла со 120 до 168 млн руб.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9999"/>
                <a:gridCol w="3810000"/>
              </a:tblGrid>
              <a:tr h="1074419"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Месяц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1">
                          <a:solidFill>
                            <a:srgbClr val="FFFFFF"/>
                          </a:solidFill>
                          <a:latin typeface="Manrope"/>
                        </a:defRPr>
                      </a:pPr>
                      <a:r>
                        <a:t>Выручка, млн руб.</a:t>
                      </a:r>
                    </a:p>
                  </a:txBody>
                  <a:tcPr>
                    <a:solidFill>
                      <a:srgbClr val="006AD8"/>
                    </a:solidFill>
                  </a:tcPr>
                </a:tc>
              </a:tr>
              <a:tr h="107441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Январь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1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Февраль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138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  <a:tr h="1074419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Март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74423"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Апрель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49" b="0">
                          <a:solidFill>
                            <a:srgbClr val="142A45"/>
                          </a:solidFill>
                          <a:latin typeface="Manrope"/>
                        </a:defRPr>
                      </a:pPr>
                      <a:r>
                        <a:t>168</a:t>
                      </a:r>
                    </a:p>
                  </a:txBody>
                  <a:tcPr>
                    <a:solidFill>
                      <a:srgbClr val="EBF3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01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Выручка выросла на 40% с января по апрель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4826555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6488667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8150779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8" name="analysis-category-3"/>
          <p:cNvSpPr txBox="1"/>
          <p:nvPr/>
        </p:nvSpPr>
        <p:spPr>
          <a:xfrm>
            <a:off x="9812892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Апрель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02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Продукт A: 120 продаж — больше других категорий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4994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A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72104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B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94265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Продукт 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03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Чаще всего встречаются значения от 10 до 20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4826555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[0; 10)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6488667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[10; 20)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8150779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[20; 30)</a:t>
            </a:r>
          </a:p>
        </p:txBody>
      </p:sp>
      <p:sp>
        <p:nvSpPr>
          <p:cNvPr id="8" name="analysis-category-3"/>
          <p:cNvSpPr txBox="1"/>
          <p:nvPr/>
        </p:nvSpPr>
        <p:spPr>
          <a:xfrm>
            <a:off x="9812892" y="5314949"/>
            <a:ext cx="1495901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[30; 40]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04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Прямые продажи дают половину объёма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05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Больше вложений связано с большим числом заявок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06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В III квартале факт выше плана на 10 млн руб.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4994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 квартал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72104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 квартал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94265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III квартал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07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Повторные заказы: 50 из 80 в марте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3962399" y="723899"/>
          <a:ext cx="7619999" cy="537209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analysis-category-0"/>
          <p:cNvSpPr txBox="1"/>
          <p:nvPr/>
        </p:nvSpPr>
        <p:spPr>
          <a:xfrm>
            <a:off x="49942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Январь</a:t>
            </a:r>
          </a:p>
        </p:txBody>
      </p:sp>
      <p:sp>
        <p:nvSpPr>
          <p:cNvPr id="6" name="analysis-category-1"/>
          <p:cNvSpPr txBox="1"/>
          <p:nvPr/>
        </p:nvSpPr>
        <p:spPr>
          <a:xfrm>
            <a:off x="721042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Февраль</a:t>
            </a:r>
          </a:p>
        </p:txBody>
      </p:sp>
      <p:sp>
        <p:nvSpPr>
          <p:cNvPr id="7" name="analysis-category-2"/>
          <p:cNvSpPr txBox="1"/>
          <p:nvPr/>
        </p:nvSpPr>
        <p:spPr>
          <a:xfrm>
            <a:off x="9426574" y="5314949"/>
            <a:ext cx="1714499" cy="4571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99">
                <a:solidFill>
                  <a:srgbClr val="142A45"/>
                </a:solidFill>
                <a:latin typeface="Manrope"/>
              </a:defRPr>
            </a:pPr>
            <a:r>
              <a:t>Март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08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599" y="609599"/>
            <a:ext cx="28574" cy="55435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99" y="609599"/>
            <a:ext cx="2857499" cy="28803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2822" b="1">
                <a:solidFill>
                  <a:srgbClr val="142A45"/>
                </a:solidFill>
                <a:latin typeface="Manrope"/>
              </a:defRPr>
            </a:pPr>
            <a:r>
              <a:t>За четыре месяца получено 576 млн руб. выручки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3962399" y="723899"/>
            <a:ext cx="38099" cy="25717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52899" y="80009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Выручка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52899" y="1495424"/>
            <a:ext cx="3409949" cy="925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576 млн руб.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52899" y="257555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Сумма · Январь–апрель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7886699" y="723899"/>
            <a:ext cx="38099" cy="25717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77199" y="80009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Среднее за месяц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7199" y="1495424"/>
            <a:ext cx="3409949" cy="925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144 млн руб.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7199" y="257555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Среднее · Январь–апрель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62399" y="3524249"/>
            <a:ext cx="38099" cy="2571749"/>
          </a:xfrm>
          <a:prstGeom prst="rect">
            <a:avLst/>
          </a:prstGeom>
          <a:solidFill>
            <a:srgbClr val="006A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52899" y="360044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649" b="1">
                <a:solidFill>
                  <a:srgbClr val="142A45"/>
                </a:solidFill>
                <a:latin typeface="Manrope"/>
              </a:defRPr>
            </a:pPr>
            <a:r>
              <a:t>Изменение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52899" y="4295774"/>
            <a:ext cx="3409949" cy="92582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3599" b="1">
                <a:solidFill>
                  <a:srgbClr val="006AD8"/>
                </a:solidFill>
                <a:latin typeface="Manrope"/>
              </a:defRPr>
            </a:pPr>
            <a:r>
              <a:t>40 %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2899" y="5375909"/>
            <a:ext cx="3409949" cy="64293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274" b="0">
                <a:solidFill>
                  <a:srgbClr val="4C5D72"/>
                </a:solidFill>
                <a:latin typeface="Manrope"/>
              </a:defRPr>
            </a:pPr>
            <a:r>
              <a:t>Относительное изменение · Апрель к январю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599" y="6305549"/>
            <a:ext cx="9258299" cy="4190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Источник: Синтетический набор North,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96499" y="6305549"/>
            <a:ext cx="380999" cy="2666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8000"/>
              </a:lnSpc>
              <a:spcAft>
                <a:spcPts val="0"/>
              </a:spcAft>
              <a:defRPr sz="1124" b="0">
                <a:solidFill>
                  <a:srgbClr val="4C5D72"/>
                </a:solidFill>
                <a:latin typeface="Manrope"/>
              </a:defRPr>
            </a:pPr>
            <a:r>
              <a:t>09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899" y="6459763"/>
            <a:ext cx="952499" cy="2267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