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07118055555555555"/>
          <c:y val="0.08888906666679999"/>
          <c:w val="0.9114583333333334"/>
          <c:h val="0.7066660799995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(₽)</c:v>
                </c:pt>
              </c:strCache>
            </c:strRef>
          </c:tx>
          <c:spPr>
            <a:solidFill>
              <a:srgbClr val="006AD8"/>
            </a:solidFill>
            <a:ln w="25400">
              <a:solidFill>
                <a:srgbClr val="006AD8"/>
              </a:solidFill>
            </a:ln>
          </c:spPr>
          <c:marker>
            <c:symbol val="circle"/>
            <c:size val="5"/>
            <c:spPr>
              <a:solidFill>
                <a:srgbClr val="006AD8"/>
              </a:solidFill>
              <a:ln>
                <a:solidFill>
                  <a:srgbClr val="006AD8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2025-01-01</c:v>
                </c:pt>
                <c:pt idx="1">
                  <c:v>2025-02-01</c:v>
                </c:pt>
                <c:pt idx="2">
                  <c:v>2025-03-01</c:v>
                </c:pt>
                <c:pt idx="3">
                  <c:v>2025-04-01</c:v>
                </c:pt>
                <c:pt idx="4">
                  <c:v>2025-05-01</c:v>
                </c:pt>
                <c:pt idx="5">
                  <c:v>2025-06-01</c:v>
                </c:pt>
                <c:pt idx="6">
                  <c:v>2025-07-01</c:v>
                </c:pt>
                <c:pt idx="7">
                  <c:v>2025-08-01</c:v>
                </c:pt>
                <c:pt idx="8">
                  <c:v>2025-09-01</c:v>
                </c:pt>
                <c:pt idx="9">
                  <c:v>2025-10-01</c:v>
                </c:pt>
                <c:pt idx="10">
                  <c:v>2025-11-01</c:v>
                </c:pt>
                <c:pt idx="11">
                  <c:v>2025-12-01</c:v>
                </c:pt>
              </c:strCache>
            </c:strRef>
          </c:cat>
          <c:val>
            <c:numRef>
              <c:f>Sheet1!$B$2:$B$13</c:f>
              <c:numCache>
                <c:formatCode>0.######</c:formatCode>
                <c:ptCount val="12"/>
                <c:pt idx="0">
                  <c:v>100.0</c:v>
                </c:pt>
                <c:pt idx="1">
                  <c:v>102.0</c:v>
                </c:pt>
                <c:pt idx="2">
                  <c:v>104.0</c:v>
                </c:pt>
                <c:pt idx="3">
                  <c:v>106.0</c:v>
                </c:pt>
                <c:pt idx="4">
                  <c:v>108.0</c:v>
                </c:pt>
                <c:pt idx="5">
                  <c:v>110.0</c:v>
                </c:pt>
                <c:pt idx="6">
                  <c:v>112.0</c:v>
                </c:pt>
                <c:pt idx="7">
                  <c:v>114.0</c:v>
                </c:pt>
                <c:pt idx="8">
                  <c:v>116.0</c:v>
                </c:pt>
                <c:pt idx="9">
                  <c:v>118.0</c:v>
                </c:pt>
                <c:pt idx="10">
                  <c:v>120.0</c:v>
                </c:pt>
                <c:pt idx="11">
                  <c:v>123.0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Дата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5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₽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2118791784"/>
        <c:crosses val="autoZero"/>
        <c:majorUnit val="50.0"/>
      </c:valAx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07118055555555555"/>
          <c:y val="0.08888906666679999"/>
          <c:w val="0.9114583333333334"/>
          <c:h val="0.7066660799995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(₽)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Юг</c:v>
                </c:pt>
                <c:pt idx="2">
                  <c:v>Запад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100.0</c:v>
                </c:pt>
                <c:pt idx="1">
                  <c:v>123.0</c:v>
                </c:pt>
                <c:pt idx="2">
                  <c:v>77.0</c:v>
                </c:pt>
              </c:numCache>
            </c:numRef>
          </c:val>
        </c:ser>
        <c:gapWidth val="5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Region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₽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50.0"/>
      </c:valAx>
    </c:plotArea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(₽)</c:v>
                </c:pt>
              </c:strCache>
            </c:strRef>
          </c:tx>
          <c:dPt>
            <c:idx val="0"/>
            <c:spPr>
              <a:solidFill>
                <a:srgbClr val="006AD8"/>
              </a:solidFill>
              <a:ln>
                <a:noFill/>
              </a:ln>
            </c:spPr>
          </c:dPt>
          <c:dPt>
            <c:idx val="1"/>
            <c:spPr>
              <a:solidFill>
                <a:srgbClr val="09876D"/>
              </a:solidFill>
              <a:ln>
                <a:noFill/>
              </a:ln>
            </c:spPr>
          </c:dPt>
          <c:dPt>
            <c:idx val="2"/>
            <c:spPr>
              <a:solidFill>
                <a:srgbClr val="7C58AD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Прямые</c:v>
                </c:pt>
                <c:pt idx="1">
                  <c:v>Партнёры</c:v>
                </c:pt>
                <c:pt idx="2">
                  <c:v>Онлайн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50.0</c:v>
                </c:pt>
                <c:pt idx="1">
                  <c:v>30.0</c:v>
                </c:pt>
                <c:pt idx="2">
                  <c:v>20.0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99">
                  <a:solidFill>
                    <a:srgbClr val="142A45"/>
                  </a:solidFill>
                  <a:latin typeface="Manrop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74">
              <a:solidFill>
                <a:srgbClr val="142A45"/>
              </a:solidFill>
              <a:latin typeface="Manrope"/>
            </a:defRPr>
          </a:pPr>
        </a:p>
      </c:txPr>
    </c:legend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Ось: Дата; измерения: Revenue (₽); расчёт: исходные значения. Пропуски исключаются из вычислений и сохраняются как разрывы, без подстановки нуля.</a:t>
            </a:r>
          </a:p>
          <a:p>
            <a:r>
              <a:t>Источник данных: 01_synthetic_trend.csv</a:t>
            </a:r>
          </a:p>
          <a:p>
            <a:r>
              <a:t>Вопрос: Показать рост выручки</a:t>
            </a:r>
          </a:p>
          <a:p>
            <a:r>
              <a:t>Почему эта диаграмма: Ось: Дата; измерения: Revenue (₽); расчёт: исходные значения. Пропуски исключаются из вычислений и сохраняются как разрывы, без подстановки нуля.</a:t>
            </a:r>
          </a:p>
          <a:p>
            <a:r>
              <a:t>Расчёты: [{"id": "503fb3a366cace8c", "operation": "sum", "fields": ["Revenue (₽)"], "result": 1333.0, "unit": "₽", "baseline": null, "comparison": null, "rows_used": 12, "rows_excluded": 0, "description": "Итог по показанным категориям; Top N + Прочие сохраняют сумму."}, {"id": "1daae26919ca3373", "operation": "relative_change", "fields": ["Revenue (₽)"], "result": 23.0, "unit": "%", "baseline": 100.0, "comparison": 123.0, "rows_used": 12, "rows_excluded": 0, "description": "(123 − 100) / 100 × 100; 2025-01-01 → 2025-12-01"}]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Ось: Region; измерения: Revenue (₽); расчёт: исходные значения. Пропуски исключаются из вычислений и сохраняются как разрывы, без подстановки нуля.</a:t>
            </a:r>
          </a:p>
          <a:p>
            <a:r>
              <a:t>Источник данных: 02_synthetic_comparison.csv</a:t>
            </a:r>
          </a:p>
          <a:p>
            <a:r>
              <a:t>Вопрос: Сравнить регионы по выручке</a:t>
            </a:r>
          </a:p>
          <a:p>
            <a:r>
              <a:t>Почему эта диаграмма: Ось: Region; измерения: Revenue (₽); расчёт: исходные значения. Пропуски исключаются из вычислений и сохраняются как разрывы, без подстановки нуля.</a:t>
            </a:r>
          </a:p>
          <a:p>
            <a:r>
              <a:t>Расчёты: [{"id": "181c695b59622892", "operation": "sum", "fields": ["Revenue (₽)"], "result": 300.0, "unit": "₽", "baseline": null, "comparison": null, "rows_used": 3, "rows_excluded": 0, "description": "Итог по показанным категориям; Top N + Прочие сохраняют сумму."}, {"id": "f880857088fd91c2", "operation": "max", "fields": ["Revenue (₽)"], "result": 123.0, "unit": "₽", "baseline": null, "comparison": null, "rows_used": 3, "rows_excluded": 0, "description": "Максимум среди 3 непустых категорий."}]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Ось: Channel; измерения: Revenue (₽); расчёт: сумма. Пропуски исключаются из вычислений и сохраняются как разрывы, без подстановки нуля.</a:t>
            </a:r>
          </a:p>
          <a:p>
            <a:r>
              <a:t>Источник данных: 03_synthetic_shares.csv</a:t>
            </a:r>
          </a:p>
          <a:p>
            <a:r>
              <a:t>Вопрос: Показать структуру долей</a:t>
            </a:r>
          </a:p>
          <a:p>
            <a:r>
              <a:t>Почему эта диаграмма: Ось: Channel; измерения: Revenue (₽); расчёт: сумма. Пропуски исключаются из вычислений и сохраняются как разрывы, без подстановки нуля.</a:t>
            </a:r>
          </a:p>
          <a:p>
            <a:r>
              <a:t>Расчёты: [{"id": "f92a4ed265532fcf", "operation": "sum", "fields": ["Revenue (₽)"], "result": 100.0, "unit": "₽", "baseline": null, "comparison": null, "rows_used": 3, "rows_excluded": 0, "description": "Итог по показанным категориям; Top N + Прочие сохраняют сумму."}, {"id": "bb75b1c0b36cb2eb", "operation": "share", "fields": ["Revenue (₽)"], "result": 50.0, "unit": "%", "baseline": 100.0, "comparison": 50.0, "rows_used": 3, "rows_excluded": 0, "description": "Доля «Прямые»: значение / сумма всех частей × 100."}]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609599"/>
            <a:ext cx="1097279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442" b="1">
                <a:solidFill>
                  <a:srgbClr val="142A45"/>
                </a:solidFill>
                <a:latin typeface="Manrope"/>
              </a:defRPr>
            </a:pPr>
            <a:r>
              <a:t>Revenue (₽): рост на 23% за 2025-01-01 — 2025-12-01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599" y="1809749"/>
          <a:ext cx="10972799" cy="428624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analysis-category-0"/>
          <p:cNvSpPr txBox="1"/>
          <p:nvPr/>
        </p:nvSpPr>
        <p:spPr>
          <a:xfrm>
            <a:off x="1390649" y="5314940"/>
            <a:ext cx="1500187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2025-01-01</a:t>
            </a:r>
          </a:p>
        </p:txBody>
      </p:sp>
      <p:sp>
        <p:nvSpPr>
          <p:cNvPr id="5" name="analysis-category-4"/>
          <p:cNvSpPr txBox="1"/>
          <p:nvPr/>
        </p:nvSpPr>
        <p:spPr>
          <a:xfrm>
            <a:off x="4391024" y="5314940"/>
            <a:ext cx="1500187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2025-05-01</a:t>
            </a:r>
          </a:p>
        </p:txBody>
      </p:sp>
      <p:sp>
        <p:nvSpPr>
          <p:cNvPr id="6" name="analysis-category-6"/>
          <p:cNvSpPr txBox="1"/>
          <p:nvPr/>
        </p:nvSpPr>
        <p:spPr>
          <a:xfrm>
            <a:off x="6057899" y="5314940"/>
            <a:ext cx="1500187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2025-07-01</a:t>
            </a:r>
          </a:p>
        </p:txBody>
      </p:sp>
      <p:sp>
        <p:nvSpPr>
          <p:cNvPr id="7" name="analysis-category-8"/>
          <p:cNvSpPr txBox="1"/>
          <p:nvPr/>
        </p:nvSpPr>
        <p:spPr>
          <a:xfrm>
            <a:off x="7724774" y="5314940"/>
            <a:ext cx="1500187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2025-09-01</a:t>
            </a:r>
          </a:p>
        </p:txBody>
      </p:sp>
      <p:sp>
        <p:nvSpPr>
          <p:cNvPr id="8" name="analysis-category-11"/>
          <p:cNvSpPr txBox="1"/>
          <p:nvPr/>
        </p:nvSpPr>
        <p:spPr>
          <a:xfrm>
            <a:off x="9891711" y="5314940"/>
            <a:ext cx="1500187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2025-12-01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99" y="6305540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01_synthetic_trend.csv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499" y="6305540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01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55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609599"/>
            <a:ext cx="1097279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442" b="1">
                <a:solidFill>
                  <a:srgbClr val="142A45"/>
                </a:solidFill>
                <a:latin typeface="Manrope"/>
              </a:defRPr>
            </a:pPr>
            <a:r>
              <a:t>Юг: наибольшее значение «Revenue (₽)» — 123 ₽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599" y="1809749"/>
          <a:ext cx="10972799" cy="428624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analysis-category-0"/>
          <p:cNvSpPr txBox="1"/>
          <p:nvPr/>
        </p:nvSpPr>
        <p:spPr>
          <a:xfrm>
            <a:off x="2200274" y="5314940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Север</a:t>
            </a:r>
          </a:p>
        </p:txBody>
      </p:sp>
      <p:sp>
        <p:nvSpPr>
          <p:cNvPr id="5" name="analysis-category-1"/>
          <p:cNvSpPr txBox="1"/>
          <p:nvPr/>
        </p:nvSpPr>
        <p:spPr>
          <a:xfrm>
            <a:off x="5534024" y="5314940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Юг</a:t>
            </a:r>
          </a:p>
        </p:txBody>
      </p:sp>
      <p:sp>
        <p:nvSpPr>
          <p:cNvPr id="6" name="analysis-category-2"/>
          <p:cNvSpPr txBox="1"/>
          <p:nvPr/>
        </p:nvSpPr>
        <p:spPr>
          <a:xfrm>
            <a:off x="8867774" y="5314940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Запад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99" y="6305540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02_synthetic_comparison.csv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499" y="6305540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02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55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99" y="609599"/>
            <a:ext cx="10972799" cy="1066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442" b="1">
                <a:solidFill>
                  <a:srgbClr val="142A45"/>
                </a:solidFill>
                <a:latin typeface="Manrope"/>
              </a:defRPr>
            </a:pPr>
            <a:r>
              <a:t>Прямые: 50% от 100 ₽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599" y="1809749"/>
          <a:ext cx="10972799" cy="428624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599" y="6305540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03_synthetic_shares.csv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499" y="6305540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55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